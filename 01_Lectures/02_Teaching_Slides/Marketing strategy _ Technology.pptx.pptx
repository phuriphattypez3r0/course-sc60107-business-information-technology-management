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TAN Buster" panose="020B0604020202020204" charset="0"/>
      <p:regular r:id="rId22"/>
    </p:embeddedFont>
    <p:embeddedFont>
      <p:font typeface="DM Serif Display" panose="020B0604020202020204" charset="0"/>
      <p:regular r:id="rId23"/>
    </p:embeddedFont>
    <p:embeddedFont>
      <p:font typeface="Garet Bold" panose="020B0604020202020204" charset="0"/>
      <p:regular r:id="rId24"/>
    </p:embeddedFont>
    <p:embeddedFont>
      <p:font typeface="Opun" panose="020B0604020202020204" charset="-34"/>
      <p:regular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Open Sauce Bold" panose="020B0604020202020204" charset="0"/>
      <p:regular r:id="rId30"/>
    </p:embeddedFont>
    <p:embeddedFont>
      <p:font typeface="Opun Bold" panose="020B0604020202020204" charset="-34"/>
      <p:regular r:id="rId31"/>
    </p:embeddedFont>
    <p:embeddedFont>
      <p:font typeface="Garet" panose="020B060402020202020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740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7.sv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thedigitaltips.com/blog/news/metaverse/" TargetMode="External"/><Relationship Id="rId5" Type="http://schemas.openxmlformats.org/officeDocument/2006/relationships/hyperlink" Target="https://thedigitaltips.com/blog/marketing/social-media-marketing/" TargetMode="Externa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sv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25.svg"/><Relationship Id="rId4" Type="http://schemas.openxmlformats.org/officeDocument/2006/relationships/image" Target="../media/image18.png"/><Relationship Id="rId9" Type="http://schemas.openxmlformats.org/officeDocument/2006/relationships/image" Target="../media/image2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eg"/><Relationship Id="rId5" Type="http://schemas.openxmlformats.org/officeDocument/2006/relationships/image" Target="../media/image31.sv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eg"/><Relationship Id="rId5" Type="http://schemas.openxmlformats.org/officeDocument/2006/relationships/image" Target="../media/image34.sv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jpeg"/><Relationship Id="rId5" Type="http://schemas.openxmlformats.org/officeDocument/2006/relationships/image" Target="../media/image31.sv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eg"/><Relationship Id="rId5" Type="http://schemas.openxmlformats.org/officeDocument/2006/relationships/image" Target="../media/image34.sv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jpeg"/><Relationship Id="rId5" Type="http://schemas.openxmlformats.org/officeDocument/2006/relationships/image" Target="../media/image31.sv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34.sv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31.sv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44930" y="0"/>
            <a:ext cx="7243070" cy="10622880"/>
            <a:chOff x="0" y="0"/>
            <a:chExt cx="579439" cy="8498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9439" cy="849821"/>
            </a:xfrm>
            <a:custGeom>
              <a:avLst/>
              <a:gdLst/>
              <a:ahLst/>
              <a:cxnLst/>
              <a:rect l="l" t="t" r="r" b="b"/>
              <a:pathLst>
                <a:path w="579439" h="849821">
                  <a:moveTo>
                    <a:pt x="0" y="0"/>
                  </a:moveTo>
                  <a:lnTo>
                    <a:pt x="579439" y="0"/>
                  </a:lnTo>
                  <a:lnTo>
                    <a:pt x="579439" y="849821"/>
                  </a:lnTo>
                  <a:lnTo>
                    <a:pt x="0" y="849821"/>
                  </a:lnTo>
                  <a:close/>
                </a:path>
              </a:pathLst>
            </a:custGeom>
            <a:solidFill>
              <a:srgbClr val="FFE49A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579439" cy="878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05722" y="-167940"/>
            <a:ext cx="607099" cy="10622880"/>
            <a:chOff x="0" y="0"/>
            <a:chExt cx="48567" cy="84982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567" cy="849821"/>
            </a:xfrm>
            <a:custGeom>
              <a:avLst/>
              <a:gdLst/>
              <a:ahLst/>
              <a:cxnLst/>
              <a:rect l="l" t="t" r="r" b="b"/>
              <a:pathLst>
                <a:path w="48567" h="849821">
                  <a:moveTo>
                    <a:pt x="0" y="0"/>
                  </a:moveTo>
                  <a:lnTo>
                    <a:pt x="48567" y="0"/>
                  </a:lnTo>
                  <a:lnTo>
                    <a:pt x="48567" y="849821"/>
                  </a:lnTo>
                  <a:lnTo>
                    <a:pt x="0" y="849821"/>
                  </a:lnTo>
                  <a:close/>
                </a:path>
              </a:pathLst>
            </a:custGeom>
            <a:solidFill>
              <a:srgbClr val="FFE49A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8567" cy="878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8270294"/>
            <a:ext cx="5819844" cy="988006"/>
            <a:chOff x="0" y="0"/>
            <a:chExt cx="465583" cy="790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65583" cy="79040"/>
            </a:xfrm>
            <a:custGeom>
              <a:avLst/>
              <a:gdLst/>
              <a:ahLst/>
              <a:cxnLst/>
              <a:rect l="l" t="t" r="r" b="b"/>
              <a:pathLst>
                <a:path w="465583" h="79040">
                  <a:moveTo>
                    <a:pt x="39520" y="0"/>
                  </a:moveTo>
                  <a:lnTo>
                    <a:pt x="426063" y="0"/>
                  </a:lnTo>
                  <a:cubicBezTo>
                    <a:pt x="447889" y="0"/>
                    <a:pt x="465583" y="17694"/>
                    <a:pt x="465583" y="39520"/>
                  </a:cubicBezTo>
                  <a:lnTo>
                    <a:pt x="465583" y="39520"/>
                  </a:lnTo>
                  <a:cubicBezTo>
                    <a:pt x="465583" y="61346"/>
                    <a:pt x="447889" y="79040"/>
                    <a:pt x="426063" y="79040"/>
                  </a:cubicBezTo>
                  <a:lnTo>
                    <a:pt x="39520" y="79040"/>
                  </a:lnTo>
                  <a:cubicBezTo>
                    <a:pt x="17694" y="79040"/>
                    <a:pt x="0" y="61346"/>
                    <a:pt x="0" y="39520"/>
                  </a:cubicBezTo>
                  <a:lnTo>
                    <a:pt x="0" y="39520"/>
                  </a:lnTo>
                  <a:cubicBezTo>
                    <a:pt x="0" y="17694"/>
                    <a:pt x="17694" y="0"/>
                    <a:pt x="39520" y="0"/>
                  </a:cubicBezTo>
                  <a:close/>
                </a:path>
              </a:pathLst>
            </a:custGeom>
            <a:solidFill>
              <a:srgbClr val="FFE49A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65583" cy="107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8479140" y="2057400"/>
            <a:ext cx="9259747" cy="8229600"/>
          </a:xfrm>
          <a:custGeom>
            <a:avLst/>
            <a:gdLst/>
            <a:ahLst/>
            <a:cxnLst/>
            <a:rect l="l" t="t" r="r" b="b"/>
            <a:pathLst>
              <a:path w="9259747" h="8229600">
                <a:moveTo>
                  <a:pt x="0" y="0"/>
                </a:moveTo>
                <a:lnTo>
                  <a:pt x="9259747" y="0"/>
                </a:lnTo>
                <a:lnTo>
                  <a:pt x="925974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28700" y="1028700"/>
            <a:ext cx="394031" cy="566951"/>
          </a:xfrm>
          <a:custGeom>
            <a:avLst/>
            <a:gdLst/>
            <a:ahLst/>
            <a:cxnLst/>
            <a:rect l="l" t="t" r="r" b="b"/>
            <a:pathLst>
              <a:path w="394031" h="566951">
                <a:moveTo>
                  <a:pt x="0" y="0"/>
                </a:moveTo>
                <a:lnTo>
                  <a:pt x="394031" y="0"/>
                </a:lnTo>
                <a:lnTo>
                  <a:pt x="394031" y="566951"/>
                </a:lnTo>
                <a:lnTo>
                  <a:pt x="0" y="5669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AutoShape 13"/>
          <p:cNvSpPr/>
          <p:nvPr/>
        </p:nvSpPr>
        <p:spPr>
          <a:xfrm>
            <a:off x="1047750" y="4355263"/>
            <a:ext cx="0" cy="157647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Freeform 14"/>
          <p:cNvSpPr/>
          <p:nvPr/>
        </p:nvSpPr>
        <p:spPr>
          <a:xfrm rot="426246">
            <a:off x="8621031" y="536895"/>
            <a:ext cx="1260869" cy="2372886"/>
          </a:xfrm>
          <a:custGeom>
            <a:avLst/>
            <a:gdLst/>
            <a:ahLst/>
            <a:cxnLst/>
            <a:rect l="l" t="t" r="r" b="b"/>
            <a:pathLst>
              <a:path w="1260869" h="2372886">
                <a:moveTo>
                  <a:pt x="0" y="0"/>
                </a:moveTo>
                <a:lnTo>
                  <a:pt x="1260869" y="0"/>
                </a:lnTo>
                <a:lnTo>
                  <a:pt x="1260869" y="2372886"/>
                </a:lnTo>
                <a:lnTo>
                  <a:pt x="0" y="23728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335596" y="3434136"/>
            <a:ext cx="7808404" cy="3599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45"/>
              </a:lnSpc>
            </a:pPr>
            <a:r>
              <a:rPr lang="en-US" sz="9345">
                <a:solidFill>
                  <a:srgbClr val="000000"/>
                </a:solidFill>
                <a:latin typeface="DM Serif Display"/>
              </a:rPr>
              <a:t>MARKETING STRATEGY &amp; TECHNOLOGY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15617" y="8588097"/>
            <a:ext cx="5046010" cy="387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7"/>
              </a:lnSpc>
            </a:pPr>
            <a:r>
              <a:rPr lang="en-US" sz="2887">
                <a:solidFill>
                  <a:srgbClr val="000000"/>
                </a:solidFill>
                <a:latin typeface="Garet"/>
              </a:rPr>
              <a:t>Presented by Group 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09895" y="1161388"/>
            <a:ext cx="3367455" cy="339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500">
                <a:solidFill>
                  <a:srgbClr val="000000"/>
                </a:solidFill>
                <a:latin typeface="Garet Bold"/>
              </a:rPr>
              <a:t>Thynk Unlimited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94913" y="-2369132"/>
            <a:ext cx="4352438" cy="4114800"/>
          </a:xfrm>
          <a:custGeom>
            <a:avLst/>
            <a:gdLst/>
            <a:ahLst/>
            <a:cxnLst/>
            <a:rect l="l" t="t" r="r" b="b"/>
            <a:pathLst>
              <a:path w="4352438" h="4114800">
                <a:moveTo>
                  <a:pt x="0" y="0"/>
                </a:moveTo>
                <a:lnTo>
                  <a:pt x="4352438" y="0"/>
                </a:lnTo>
                <a:lnTo>
                  <a:pt x="43524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1028700"/>
            <a:ext cx="394031" cy="566951"/>
          </a:xfrm>
          <a:custGeom>
            <a:avLst/>
            <a:gdLst/>
            <a:ahLst/>
            <a:cxnLst/>
            <a:rect l="l" t="t" r="r" b="b"/>
            <a:pathLst>
              <a:path w="394031" h="566951">
                <a:moveTo>
                  <a:pt x="0" y="0"/>
                </a:moveTo>
                <a:lnTo>
                  <a:pt x="394031" y="0"/>
                </a:lnTo>
                <a:lnTo>
                  <a:pt x="394031" y="566951"/>
                </a:lnTo>
                <a:lnTo>
                  <a:pt x="0" y="566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57672">
            <a:off x="5935690" y="-949226"/>
            <a:ext cx="17071958" cy="16139850"/>
          </a:xfrm>
          <a:custGeom>
            <a:avLst/>
            <a:gdLst/>
            <a:ahLst/>
            <a:cxnLst/>
            <a:rect l="l" t="t" r="r" b="b"/>
            <a:pathLst>
              <a:path w="17071958" h="16139850">
                <a:moveTo>
                  <a:pt x="0" y="0"/>
                </a:moveTo>
                <a:lnTo>
                  <a:pt x="17071958" y="0"/>
                </a:lnTo>
                <a:lnTo>
                  <a:pt x="17071958" y="16139850"/>
                </a:lnTo>
                <a:lnTo>
                  <a:pt x="0" y="16139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377096" y="2166584"/>
            <a:ext cx="6839692" cy="6997128"/>
          </a:xfrm>
          <a:custGeom>
            <a:avLst/>
            <a:gdLst/>
            <a:ahLst/>
            <a:cxnLst/>
            <a:rect l="l" t="t" r="r" b="b"/>
            <a:pathLst>
              <a:path w="6839692" h="6997128">
                <a:moveTo>
                  <a:pt x="0" y="0"/>
                </a:moveTo>
                <a:lnTo>
                  <a:pt x="6839692" y="0"/>
                </a:lnTo>
                <a:lnTo>
                  <a:pt x="6839692" y="6997128"/>
                </a:lnTo>
                <a:lnTo>
                  <a:pt x="0" y="69971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08731">
            <a:off x="10551230" y="1448974"/>
            <a:ext cx="842177" cy="683216"/>
          </a:xfrm>
          <a:custGeom>
            <a:avLst/>
            <a:gdLst/>
            <a:ahLst/>
            <a:cxnLst/>
            <a:rect l="l" t="t" r="r" b="b"/>
            <a:pathLst>
              <a:path w="842177" h="683216">
                <a:moveTo>
                  <a:pt x="0" y="0"/>
                </a:moveTo>
                <a:lnTo>
                  <a:pt x="842177" y="0"/>
                </a:lnTo>
                <a:lnTo>
                  <a:pt x="842177" y="683216"/>
                </a:lnTo>
                <a:lnTo>
                  <a:pt x="0" y="6832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1971557"/>
            <a:ext cx="7808404" cy="2418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45"/>
              </a:lnSpc>
            </a:pPr>
            <a:r>
              <a:rPr lang="en-US" sz="9345">
                <a:solidFill>
                  <a:srgbClr val="000000"/>
                </a:solidFill>
                <a:latin typeface="DM Serif Display"/>
              </a:rPr>
              <a:t>MARKETING STRATEGY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09895" y="1161388"/>
            <a:ext cx="3367455" cy="33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500">
                <a:solidFill>
                  <a:srgbClr val="000000"/>
                </a:solidFill>
                <a:latin typeface="Garet"/>
              </a:rPr>
              <a:t>Thynk Unlimited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9630" y="4447310"/>
            <a:ext cx="11496988" cy="5234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5"/>
              </a:lnSpc>
            </a:pPr>
            <a:r>
              <a:rPr lang="en-US" sz="3278">
                <a:solidFill>
                  <a:srgbClr val="000000"/>
                </a:solidFill>
                <a:latin typeface="Opun Bold"/>
                <a:cs typeface="Opun Bold"/>
              </a:rPr>
              <a:t>         คือ การเลือกวิธีการ การวางแผน การลำดับขั้นตอนใน</a:t>
            </a:r>
          </a:p>
          <a:p>
            <a:pPr algn="l">
              <a:lnSpc>
                <a:spcPts val="5245"/>
              </a:lnSpc>
            </a:pPr>
            <a:r>
              <a:rPr lang="en-US" sz="3278">
                <a:solidFill>
                  <a:srgbClr val="000000"/>
                </a:solidFill>
                <a:latin typeface="Opun Bold"/>
                <a:cs typeface="Opun Bold"/>
              </a:rPr>
              <a:t>การลงมือทำการตลาดอย่างมี ‘ชั้นเชิง’ เพื่อบรรลุเป้าหมายทางการตลาดหรือเป้าหมายทางธุรกิจที่ตั้งไว้ </a:t>
            </a:r>
          </a:p>
          <a:p>
            <a:pPr algn="l">
              <a:lnSpc>
                <a:spcPts val="5245"/>
              </a:lnSpc>
            </a:pPr>
            <a:r>
              <a:rPr lang="en-US" sz="3278">
                <a:solidFill>
                  <a:srgbClr val="000000"/>
                </a:solidFill>
                <a:latin typeface="Opun Bold"/>
              </a:rPr>
              <a:t>         </a:t>
            </a:r>
            <a:r>
              <a:rPr lang="en-US" sz="3278">
                <a:solidFill>
                  <a:srgbClr val="000000"/>
                </a:solidFill>
                <a:cs typeface="Opun Bold"/>
              </a:rPr>
              <a:t>ซึ่งกลยุทธ์ทางการตลาดก็มีอยู่หลากหลายวิธีการด้วยกัน ไม่ว่าจะเป็นการเลือกช่องทางการใช้สื่อต่าง ๆ ร่วมกันในการนำเสนอ </a:t>
            </a:r>
          </a:p>
          <a:p>
            <a:pPr algn="l">
              <a:lnSpc>
                <a:spcPts val="5245"/>
              </a:lnSpc>
            </a:pPr>
            <a:r>
              <a:rPr lang="en-US" sz="3278">
                <a:solidFill>
                  <a:srgbClr val="000000"/>
                </a:solidFill>
                <a:cs typeface="Opun Bold"/>
              </a:rPr>
              <a:t>การวางแคมเปญ การเลือกวิธีโฆษณา ฯลฯ โดยกลยุทธ์การตลาด </a:t>
            </a:r>
          </a:p>
          <a:p>
            <a:pPr algn="l">
              <a:lnSpc>
                <a:spcPts val="5245"/>
              </a:lnSpc>
            </a:pPr>
            <a:r>
              <a:rPr lang="en-US" sz="3278">
                <a:solidFill>
                  <a:srgbClr val="000000"/>
                </a:solidFill>
                <a:cs typeface="Opun Bold"/>
              </a:rPr>
              <a:t>เราสามารถวางได้ทั้งกลยุทธ์ระยะสั้นและระยะยาว ซึ่งกำหนดโดย</a:t>
            </a:r>
          </a:p>
          <a:p>
            <a:pPr algn="l">
              <a:lnSpc>
                <a:spcPts val="5245"/>
              </a:lnSpc>
            </a:pPr>
            <a:r>
              <a:rPr lang="en-US" sz="3278">
                <a:solidFill>
                  <a:srgbClr val="000000"/>
                </a:solidFill>
                <a:cs typeface="Opun Bold"/>
              </a:rPr>
              <a:t>เป้าหมายทางการตลาดและจุดประสงค์ทางธุรกิจ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19543" y="-266185"/>
            <a:ext cx="11056209" cy="10819370"/>
            <a:chOff x="0" y="0"/>
            <a:chExt cx="407057" cy="3983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7057" cy="398337"/>
            </a:xfrm>
            <a:custGeom>
              <a:avLst/>
              <a:gdLst/>
              <a:ahLst/>
              <a:cxnLst/>
              <a:rect l="l" t="t" r="r" b="b"/>
              <a:pathLst>
                <a:path w="407057" h="398337">
                  <a:moveTo>
                    <a:pt x="0" y="0"/>
                  </a:moveTo>
                  <a:lnTo>
                    <a:pt x="407057" y="0"/>
                  </a:lnTo>
                  <a:lnTo>
                    <a:pt x="407057" y="398337"/>
                  </a:lnTo>
                  <a:lnTo>
                    <a:pt x="0" y="398337"/>
                  </a:lnTo>
                  <a:close/>
                </a:path>
              </a:pathLst>
            </a:custGeom>
            <a:solidFill>
              <a:srgbClr val="FFE49A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07057" cy="426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15706" y="3501436"/>
            <a:ext cx="7002238" cy="3599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45"/>
              </a:lnSpc>
            </a:pPr>
            <a:r>
              <a:rPr lang="en-US" sz="9345">
                <a:solidFill>
                  <a:srgbClr val="000000"/>
                </a:solidFill>
                <a:latin typeface="DM Serif Display"/>
              </a:rPr>
              <a:t>4P’S  MARKETING MIX </a:t>
            </a:r>
          </a:p>
        </p:txBody>
      </p:sp>
      <p:sp>
        <p:nvSpPr>
          <p:cNvPr id="6" name="Freeform 6"/>
          <p:cNvSpPr/>
          <p:nvPr/>
        </p:nvSpPr>
        <p:spPr>
          <a:xfrm>
            <a:off x="1028700" y="1028700"/>
            <a:ext cx="394031" cy="566951"/>
          </a:xfrm>
          <a:custGeom>
            <a:avLst/>
            <a:gdLst/>
            <a:ahLst/>
            <a:cxnLst/>
            <a:rect l="l" t="t" r="r" b="b"/>
            <a:pathLst>
              <a:path w="394031" h="566951">
                <a:moveTo>
                  <a:pt x="0" y="0"/>
                </a:moveTo>
                <a:lnTo>
                  <a:pt x="394031" y="0"/>
                </a:lnTo>
                <a:lnTo>
                  <a:pt x="394031" y="566951"/>
                </a:lnTo>
                <a:lnTo>
                  <a:pt x="0" y="5669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305722" y="-167940"/>
            <a:ext cx="607099" cy="10622880"/>
            <a:chOff x="0" y="0"/>
            <a:chExt cx="48567" cy="84982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567" cy="849821"/>
            </a:xfrm>
            <a:custGeom>
              <a:avLst/>
              <a:gdLst/>
              <a:ahLst/>
              <a:cxnLst/>
              <a:rect l="l" t="t" r="r" b="b"/>
              <a:pathLst>
                <a:path w="48567" h="849821">
                  <a:moveTo>
                    <a:pt x="0" y="0"/>
                  </a:moveTo>
                  <a:lnTo>
                    <a:pt x="48567" y="0"/>
                  </a:lnTo>
                  <a:lnTo>
                    <a:pt x="48567" y="849821"/>
                  </a:lnTo>
                  <a:lnTo>
                    <a:pt x="0" y="849821"/>
                  </a:lnTo>
                  <a:close/>
                </a:path>
              </a:pathLst>
            </a:custGeom>
            <a:solidFill>
              <a:srgbClr val="FFE49A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48567" cy="878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7519543" y="1312176"/>
            <a:ext cx="10793334" cy="8095000"/>
          </a:xfrm>
          <a:custGeom>
            <a:avLst/>
            <a:gdLst/>
            <a:ahLst/>
            <a:cxnLst/>
            <a:rect l="l" t="t" r="r" b="b"/>
            <a:pathLst>
              <a:path w="10793334" h="8095000">
                <a:moveTo>
                  <a:pt x="0" y="0"/>
                </a:moveTo>
                <a:lnTo>
                  <a:pt x="10793334" y="0"/>
                </a:lnTo>
                <a:lnTo>
                  <a:pt x="10793334" y="8095000"/>
                </a:lnTo>
                <a:lnTo>
                  <a:pt x="0" y="8095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609895" y="1161388"/>
            <a:ext cx="3367455" cy="33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500">
                <a:solidFill>
                  <a:srgbClr val="000000"/>
                </a:solidFill>
                <a:latin typeface="Garet"/>
              </a:rPr>
              <a:t>Thynk Unlimited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94913" y="-2346358"/>
            <a:ext cx="4352438" cy="4114800"/>
          </a:xfrm>
          <a:custGeom>
            <a:avLst/>
            <a:gdLst/>
            <a:ahLst/>
            <a:cxnLst/>
            <a:rect l="l" t="t" r="r" b="b"/>
            <a:pathLst>
              <a:path w="4352438" h="4114800">
                <a:moveTo>
                  <a:pt x="0" y="0"/>
                </a:moveTo>
                <a:lnTo>
                  <a:pt x="4352438" y="0"/>
                </a:lnTo>
                <a:lnTo>
                  <a:pt x="43524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793816" y="-266185"/>
            <a:ext cx="4700368" cy="10819370"/>
            <a:chOff x="0" y="0"/>
            <a:chExt cx="173054" cy="39833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3054" cy="398337"/>
            </a:xfrm>
            <a:custGeom>
              <a:avLst/>
              <a:gdLst/>
              <a:ahLst/>
              <a:cxnLst/>
              <a:rect l="l" t="t" r="r" b="b"/>
              <a:pathLst>
                <a:path w="173054" h="398337">
                  <a:moveTo>
                    <a:pt x="0" y="0"/>
                  </a:moveTo>
                  <a:lnTo>
                    <a:pt x="173054" y="0"/>
                  </a:lnTo>
                  <a:lnTo>
                    <a:pt x="173054" y="398337"/>
                  </a:lnTo>
                  <a:lnTo>
                    <a:pt x="0" y="398337"/>
                  </a:lnTo>
                  <a:close/>
                </a:path>
              </a:pathLst>
            </a:custGeom>
            <a:solidFill>
              <a:srgbClr val="FFE49A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73054" cy="426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194614" y="1027589"/>
            <a:ext cx="3898773" cy="8229600"/>
          </a:xfrm>
          <a:custGeom>
            <a:avLst/>
            <a:gdLst/>
            <a:ahLst/>
            <a:cxnLst/>
            <a:rect l="l" t="t" r="r" b="b"/>
            <a:pathLst>
              <a:path w="3898773" h="8229600">
                <a:moveTo>
                  <a:pt x="0" y="0"/>
                </a:moveTo>
                <a:lnTo>
                  <a:pt x="3898772" y="0"/>
                </a:lnTo>
                <a:lnTo>
                  <a:pt x="389877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-1294913" y="8516340"/>
            <a:ext cx="4352438" cy="4114800"/>
          </a:xfrm>
          <a:custGeom>
            <a:avLst/>
            <a:gdLst/>
            <a:ahLst/>
            <a:cxnLst/>
            <a:rect l="l" t="t" r="r" b="b"/>
            <a:pathLst>
              <a:path w="4352438" h="4114800">
                <a:moveTo>
                  <a:pt x="0" y="4114800"/>
                </a:moveTo>
                <a:lnTo>
                  <a:pt x="4352438" y="4114800"/>
                </a:lnTo>
                <a:lnTo>
                  <a:pt x="435243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5227984" y="-2346358"/>
            <a:ext cx="4352438" cy="4114800"/>
          </a:xfrm>
          <a:custGeom>
            <a:avLst/>
            <a:gdLst/>
            <a:ahLst/>
            <a:cxnLst/>
            <a:rect l="l" t="t" r="r" b="b"/>
            <a:pathLst>
              <a:path w="4352438" h="4114800">
                <a:moveTo>
                  <a:pt x="4352438" y="0"/>
                </a:moveTo>
                <a:lnTo>
                  <a:pt x="0" y="0"/>
                </a:lnTo>
                <a:lnTo>
                  <a:pt x="0" y="4114800"/>
                </a:lnTo>
                <a:lnTo>
                  <a:pt x="4352438" y="4114800"/>
                </a:lnTo>
                <a:lnTo>
                  <a:pt x="43524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 flipV="1">
            <a:off x="15227984" y="8516340"/>
            <a:ext cx="4352438" cy="4114800"/>
          </a:xfrm>
          <a:custGeom>
            <a:avLst/>
            <a:gdLst/>
            <a:ahLst/>
            <a:cxnLst/>
            <a:rect l="l" t="t" r="r" b="b"/>
            <a:pathLst>
              <a:path w="4352438" h="4114800">
                <a:moveTo>
                  <a:pt x="43524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52438" y="0"/>
                </a:lnTo>
                <a:lnTo>
                  <a:pt x="435243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1634556" y="1969818"/>
            <a:ext cx="6362457" cy="1197891"/>
            <a:chOff x="0" y="0"/>
            <a:chExt cx="1675709" cy="31549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75709" cy="315494"/>
            </a:xfrm>
            <a:custGeom>
              <a:avLst/>
              <a:gdLst/>
              <a:ahLst/>
              <a:cxnLst/>
              <a:rect l="l" t="t" r="r" b="b"/>
              <a:pathLst>
                <a:path w="1675709" h="315494">
                  <a:moveTo>
                    <a:pt x="0" y="0"/>
                  </a:moveTo>
                  <a:lnTo>
                    <a:pt x="1675709" y="0"/>
                  </a:lnTo>
                  <a:lnTo>
                    <a:pt x="1675709" y="315494"/>
                  </a:lnTo>
                  <a:lnTo>
                    <a:pt x="0" y="315494"/>
                  </a:lnTo>
                  <a:close/>
                </a:path>
              </a:pathLst>
            </a:custGeom>
            <a:solidFill>
              <a:srgbClr val="F08909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675709" cy="344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07844" y="835667"/>
            <a:ext cx="4850511" cy="200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34"/>
              </a:lnSpc>
            </a:pPr>
            <a:r>
              <a:rPr lang="en-US" sz="7734">
                <a:solidFill>
                  <a:srgbClr val="000000"/>
                </a:solidFill>
                <a:latin typeface="DM Serif Display"/>
              </a:rPr>
              <a:t>PRODUCT STRATEGY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5723" y="3382292"/>
            <a:ext cx="6422029" cy="3746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154">
                <a:solidFill>
                  <a:srgbClr val="000000"/>
                </a:solidFill>
                <a:latin typeface="Opun"/>
                <a:cs typeface="Opun"/>
              </a:rPr>
              <a:t> คือ การวิเคราะห์สินค้า/บริการของธุรกิจว่ามีจุดอ่อน จุดแข็งอย่างไร อะไรคือจุดขายของสินค้าของเรา แล้วจะออกแบบโปรดักต์หรือผลิตภัณฑ์อย่างไรเพื่อให้ตอบโจทย์กลุ่มเป้าหมายและโดดเด่นจากผลิตภัณฑ์ของแบรนด์อื่น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705761" y="1924034"/>
            <a:ext cx="6220046" cy="1179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3"/>
              </a:lnSpc>
            </a:pPr>
            <a:r>
              <a:rPr lang="en-US" sz="3039">
                <a:solidFill>
                  <a:srgbClr val="000000"/>
                </a:solidFill>
                <a:latin typeface="Opun Bold"/>
                <a:cs typeface="Opun Bold"/>
              </a:rPr>
              <a:t>สินค้า/บริการ หรือโปรดักต์ จะชนะใจลูกค้าและชนะคู่แข่งได้อย่างไร?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37109" y="733798"/>
            <a:ext cx="5367094" cy="1034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34"/>
              </a:lnSpc>
            </a:pPr>
            <a:r>
              <a:rPr lang="en-US" sz="7734">
                <a:solidFill>
                  <a:srgbClr val="000000"/>
                </a:solidFill>
                <a:latin typeface="DM Serif Display"/>
              </a:rPr>
              <a:t>QUESTION?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163543" y="3410867"/>
            <a:ext cx="5898734" cy="6735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5046"/>
              </a:lnSpc>
              <a:defRPr sz="3154">
                <a:solidFill>
                  <a:srgbClr val="000000"/>
                </a:solidFill>
                <a:latin typeface="Opun"/>
                <a:cs typeface="Opun"/>
              </a:defRPr>
            </a:lvl1pPr>
          </a:lstStyle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300"/>
              <a:t>ความต้องการของลูกค้า (Satisfying Needs) และปัญหาของลูกค้า (Pain Points)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300"/>
              <a:t>จุดขายของสินค้า (Unique selling point)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300"/>
              <a:t>คุณภาพของสินค้า (Product Quality)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300"/>
              <a:t>ภาพลักษณ์หรือ Branding ของสินค้า บรรจุภัณฑ์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300"/>
              <a:t>การให้บริการและบริการหลังการขาย(Services)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300"/>
              <a:t>การรับประกัน (Warranties)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3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9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36573" y="-266185"/>
            <a:ext cx="9439179" cy="10819370"/>
            <a:chOff x="0" y="0"/>
            <a:chExt cx="347523" cy="3983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7523" cy="398337"/>
            </a:xfrm>
            <a:custGeom>
              <a:avLst/>
              <a:gdLst/>
              <a:ahLst/>
              <a:cxnLst/>
              <a:rect l="l" t="t" r="r" b="b"/>
              <a:pathLst>
                <a:path w="347523" h="398337">
                  <a:moveTo>
                    <a:pt x="0" y="0"/>
                  </a:moveTo>
                  <a:lnTo>
                    <a:pt x="347523" y="0"/>
                  </a:lnTo>
                  <a:lnTo>
                    <a:pt x="347523" y="398337"/>
                  </a:lnTo>
                  <a:lnTo>
                    <a:pt x="0" y="398337"/>
                  </a:lnTo>
                  <a:close/>
                </a:path>
              </a:pathLst>
            </a:custGeom>
            <a:solidFill>
              <a:srgbClr val="FFE49A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347523" cy="426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08847" y="4966778"/>
            <a:ext cx="5159644" cy="5224955"/>
          </a:xfrm>
          <a:custGeom>
            <a:avLst/>
            <a:gdLst/>
            <a:ahLst/>
            <a:cxnLst/>
            <a:rect l="l" t="t" r="r" b="b"/>
            <a:pathLst>
              <a:path w="5159644" h="5224955">
                <a:moveTo>
                  <a:pt x="0" y="0"/>
                </a:moveTo>
                <a:lnTo>
                  <a:pt x="5159643" y="0"/>
                </a:lnTo>
                <a:lnTo>
                  <a:pt x="5159643" y="5224955"/>
                </a:lnTo>
                <a:lnTo>
                  <a:pt x="0" y="5224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455677"/>
            <a:ext cx="5919937" cy="2228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00"/>
              </a:lnSpc>
            </a:pPr>
            <a:r>
              <a:rPr lang="en-US" sz="8600">
                <a:solidFill>
                  <a:srgbClr val="000000"/>
                </a:solidFill>
                <a:latin typeface="DM Serif Display"/>
              </a:rPr>
              <a:t>PRICE STRATEGY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9323" y="2847843"/>
            <a:ext cx="8115300" cy="184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1"/>
              </a:lnSpc>
            </a:pPr>
            <a:r>
              <a:rPr lang="en-US" sz="3101">
                <a:solidFill>
                  <a:srgbClr val="000000"/>
                </a:solidFill>
                <a:cs typeface="Opun"/>
              </a:rPr>
              <a:t>คือ กลยุทธ์การตลาดที่ใช้การตั้งราคาสินค้าและกลยุทธ์ด้านราคาในการดึงดูดลูกค้า ซึ่งถือเป็นหนึ่งในปัจจัยสำคัญที่ทำให้ลูกค้าตัดสินใจเลือกซื้อของจากเรา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-305722" y="-167940"/>
            <a:ext cx="607099" cy="10622880"/>
            <a:chOff x="0" y="0"/>
            <a:chExt cx="48567" cy="84982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567" cy="849821"/>
            </a:xfrm>
            <a:custGeom>
              <a:avLst/>
              <a:gdLst/>
              <a:ahLst/>
              <a:cxnLst/>
              <a:rect l="l" t="t" r="r" b="b"/>
              <a:pathLst>
                <a:path w="48567" h="849821">
                  <a:moveTo>
                    <a:pt x="0" y="0"/>
                  </a:moveTo>
                  <a:lnTo>
                    <a:pt x="48567" y="0"/>
                  </a:lnTo>
                  <a:lnTo>
                    <a:pt x="48567" y="849821"/>
                  </a:lnTo>
                  <a:lnTo>
                    <a:pt x="0" y="849821"/>
                  </a:lnTo>
                  <a:close/>
                </a:path>
              </a:pathLst>
            </a:custGeom>
            <a:solidFill>
              <a:srgbClr val="FFE49A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8567" cy="878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798513" y="1748083"/>
            <a:ext cx="8115300" cy="1214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1"/>
              </a:lnSpc>
            </a:pPr>
            <a:r>
              <a:rPr lang="en-US" sz="3101">
                <a:solidFill>
                  <a:srgbClr val="000000"/>
                </a:solidFill>
                <a:latin typeface="Opun Bold"/>
                <a:cs typeface="Opun Bold"/>
              </a:rPr>
              <a:t>กลยุทธ์ด้านราคาและการตั้งราคาแบบไหนจะทำให้ลูกค้าอยากซื้อหรือซื้อมากขึ้น?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72616" y="582816"/>
            <a:ext cx="5367094" cy="1034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34"/>
              </a:lnSpc>
            </a:pPr>
            <a:r>
              <a:rPr lang="en-US" sz="7734">
                <a:solidFill>
                  <a:srgbClr val="000000"/>
                </a:solidFill>
                <a:latin typeface="DM Serif Display"/>
              </a:rPr>
              <a:t>QUESTION?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79523" y="3095493"/>
            <a:ext cx="8115300" cy="6667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957" lvl="1" indent="-323979" algn="l">
              <a:lnSpc>
                <a:spcPts val="4801"/>
              </a:lnSpc>
              <a:buFont typeface="Arial"/>
              <a:buChar char="•"/>
            </a:pPr>
            <a:r>
              <a:rPr lang="en-US" sz="3001">
                <a:solidFill>
                  <a:srgbClr val="000000"/>
                </a:solidFill>
                <a:latin typeface="Opun"/>
                <a:cs typeface="Opun"/>
              </a:rPr>
              <a:t>การตั้งราคาสินค้า (Pricing) เช่น การตั้งราคาตามต้นทุน การตั้งราคาตามคุณค่า การตั้งราคาเป็น</a:t>
            </a:r>
          </a:p>
          <a:p>
            <a:pPr marL="647957" lvl="1" indent="-323979" algn="l">
              <a:lnSpc>
                <a:spcPts val="4801"/>
              </a:lnSpc>
              <a:buFont typeface="Arial"/>
              <a:buChar char="•"/>
            </a:pPr>
            <a:r>
              <a:rPr lang="en-US" sz="3001">
                <a:solidFill>
                  <a:srgbClr val="000000"/>
                </a:solidFill>
                <a:latin typeface="Opun"/>
                <a:cs typeface="Opun"/>
              </a:rPr>
              <a:t>เลขกลมอ่านง่าย (Price Skimming) การตั้งราคาตามคู่แข่ง ตั้งราคาถูกแต่มีค่าใช้จ่ายแฝง </a:t>
            </a:r>
          </a:p>
          <a:p>
            <a:pPr marL="647957" lvl="1" indent="-323979" algn="l">
              <a:lnSpc>
                <a:spcPts val="4801"/>
              </a:lnSpc>
              <a:buFont typeface="Arial"/>
              <a:buChar char="•"/>
            </a:pPr>
            <a:r>
              <a:rPr lang="en-US" sz="3001">
                <a:solidFill>
                  <a:srgbClr val="000000"/>
                </a:solidFill>
                <a:cs typeface="Opun"/>
              </a:rPr>
              <a:t>การตั้งราคาเป็นลำดับขั้น ฯลฯ</a:t>
            </a:r>
          </a:p>
          <a:p>
            <a:pPr marL="647957" lvl="1" indent="-323979" algn="l">
              <a:lnSpc>
                <a:spcPts val="4801"/>
              </a:lnSpc>
              <a:buFont typeface="Arial"/>
              <a:buChar char="•"/>
            </a:pPr>
            <a:r>
              <a:rPr lang="en-US" sz="3001">
                <a:solidFill>
                  <a:srgbClr val="000000"/>
                </a:solidFill>
                <a:latin typeface="Opun"/>
                <a:cs typeface="Opun"/>
              </a:rPr>
              <a:t>ข้อเสนอยอมให้ (Allowances) เช่น นำเก่ามาแลกใหม่ ให้ค่าตอบแทน/ส่วนลดเมื่อบอกต่อสินค้า </a:t>
            </a:r>
          </a:p>
          <a:p>
            <a:pPr marL="647957" lvl="1" indent="-323979" algn="l">
              <a:lnSpc>
                <a:spcPts val="4801"/>
              </a:lnSpc>
              <a:buFont typeface="Arial"/>
              <a:buChar char="•"/>
            </a:pPr>
            <a:r>
              <a:rPr lang="en-US" sz="3001">
                <a:solidFill>
                  <a:srgbClr val="000000"/>
                </a:solidFill>
                <a:cs typeface="Opun"/>
              </a:rPr>
              <a:t>ช่วยค่าส่ง ฯลฯ</a:t>
            </a:r>
          </a:p>
          <a:p>
            <a:pPr marL="647957" lvl="1" indent="-323979" algn="l">
              <a:lnSpc>
                <a:spcPts val="4801"/>
              </a:lnSpc>
              <a:buFont typeface="Arial"/>
              <a:buChar char="•"/>
            </a:pPr>
            <a:r>
              <a:rPr lang="en-US" sz="3001">
                <a:solidFill>
                  <a:srgbClr val="000000"/>
                </a:solidFill>
                <a:latin typeface="Opun"/>
                <a:cs typeface="Opun"/>
              </a:rPr>
              <a:t>ส่วนลด (Discount)</a:t>
            </a:r>
          </a:p>
          <a:p>
            <a:pPr marL="647957" lvl="1" indent="-323979" algn="l">
              <a:lnSpc>
                <a:spcPts val="4801"/>
              </a:lnSpc>
              <a:buFont typeface="Arial"/>
              <a:buChar char="•"/>
            </a:pPr>
            <a:r>
              <a:rPr lang="en-US" sz="3001">
                <a:solidFill>
                  <a:srgbClr val="000000"/>
                </a:solidFill>
                <a:latin typeface="Opun"/>
                <a:cs typeface="Opun"/>
              </a:rPr>
              <a:t>เงื่อนไขการชำระเงิน (Payment Term) เช่น สามารถแบ่งชำระได้ ใช้เครดิตได้ ฯลฯ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1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57672">
            <a:off x="5935690" y="-949226"/>
            <a:ext cx="17071958" cy="16139850"/>
          </a:xfrm>
          <a:custGeom>
            <a:avLst/>
            <a:gdLst/>
            <a:ahLst/>
            <a:cxnLst/>
            <a:rect l="l" t="t" r="r" b="b"/>
            <a:pathLst>
              <a:path w="17071958" h="16139850">
                <a:moveTo>
                  <a:pt x="0" y="0"/>
                </a:moveTo>
                <a:lnTo>
                  <a:pt x="17071958" y="0"/>
                </a:lnTo>
                <a:lnTo>
                  <a:pt x="17071958" y="16139850"/>
                </a:lnTo>
                <a:lnTo>
                  <a:pt x="0" y="16139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294913" y="-2369132"/>
            <a:ext cx="4352438" cy="4114800"/>
          </a:xfrm>
          <a:custGeom>
            <a:avLst/>
            <a:gdLst/>
            <a:ahLst/>
            <a:cxnLst/>
            <a:rect l="l" t="t" r="r" b="b"/>
            <a:pathLst>
              <a:path w="4352438" h="4114800">
                <a:moveTo>
                  <a:pt x="0" y="0"/>
                </a:moveTo>
                <a:lnTo>
                  <a:pt x="4352438" y="0"/>
                </a:lnTo>
                <a:lnTo>
                  <a:pt x="43524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834873"/>
            <a:ext cx="5861241" cy="2418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45"/>
              </a:lnSpc>
            </a:pPr>
            <a:r>
              <a:rPr lang="en-US" sz="9345">
                <a:solidFill>
                  <a:srgbClr val="000000"/>
                </a:solidFill>
                <a:latin typeface="DM Serif Display"/>
              </a:rPr>
              <a:t>PLACE STRATEGY</a:t>
            </a:r>
          </a:p>
        </p:txBody>
      </p:sp>
      <p:sp>
        <p:nvSpPr>
          <p:cNvPr id="5" name="Freeform 5"/>
          <p:cNvSpPr/>
          <p:nvPr/>
        </p:nvSpPr>
        <p:spPr>
          <a:xfrm>
            <a:off x="4842638" y="6097403"/>
            <a:ext cx="4815629" cy="4189597"/>
          </a:xfrm>
          <a:custGeom>
            <a:avLst/>
            <a:gdLst/>
            <a:ahLst/>
            <a:cxnLst/>
            <a:rect l="l" t="t" r="r" b="b"/>
            <a:pathLst>
              <a:path w="4815629" h="4189597">
                <a:moveTo>
                  <a:pt x="0" y="0"/>
                </a:moveTo>
                <a:lnTo>
                  <a:pt x="4815629" y="0"/>
                </a:lnTo>
                <a:lnTo>
                  <a:pt x="4815629" y="4189597"/>
                </a:lnTo>
                <a:lnTo>
                  <a:pt x="0" y="41895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21735" y="3536345"/>
            <a:ext cx="8115300" cy="3100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1"/>
              </a:lnSpc>
            </a:pPr>
            <a:r>
              <a:rPr lang="en-US" sz="3101">
                <a:solidFill>
                  <a:srgbClr val="000000"/>
                </a:solidFill>
                <a:latin typeface="Opun"/>
                <a:cs typeface="Opun"/>
              </a:rPr>
              <a:t>คือ การเลือกช่องทางในการนำเสนอสินค้าให้ลูกค้ารู้จัก ซึ่ง “Place” ในที่นี้ ไม่ได้หมายถึงเพียงสถานที่ทางกายภาพเท่านั้น แต่ยังรวมไปถึงช่องทางที่ลูกค้าใช้เวลาทำกิจกรรมในนั้น เช่น โซเชียลมีเดียช่องทางต่าง ๆ, Google, สมาร์ตโฟน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072474" y="364520"/>
            <a:ext cx="5567378" cy="1214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1"/>
              </a:lnSpc>
            </a:pPr>
            <a:r>
              <a:rPr lang="en-US" sz="3101">
                <a:solidFill>
                  <a:srgbClr val="000000"/>
                </a:solidFill>
                <a:latin typeface="Opun Bold"/>
                <a:cs typeface="Opun Bold"/>
              </a:rPr>
              <a:t>จงยกตัวอย่างช่องทางการขายสินค้าทั้ง Online และ Shop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98513" y="2701160"/>
            <a:ext cx="8115300" cy="4229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957" lvl="1" indent="-323979" algn="l">
              <a:lnSpc>
                <a:spcPts val="4801"/>
              </a:lnSpc>
              <a:buFont typeface="Arial"/>
              <a:buChar char="•"/>
            </a:pPr>
            <a:r>
              <a:rPr lang="en-US" sz="3001">
                <a:solidFill>
                  <a:srgbClr val="000000"/>
                </a:solidFill>
                <a:latin typeface="Opun"/>
                <a:cs typeface="Opun"/>
              </a:rPr>
              <a:t>เว็บไซต์และหน้า Google </a:t>
            </a:r>
          </a:p>
          <a:p>
            <a:pPr marL="647957" lvl="1" indent="-323979" algn="l">
              <a:lnSpc>
                <a:spcPts val="4801"/>
              </a:lnSpc>
              <a:buFont typeface="Arial"/>
              <a:buChar char="•"/>
            </a:pPr>
            <a:r>
              <a:rPr lang="en-US" sz="3001">
                <a:solidFill>
                  <a:srgbClr val="000000"/>
                </a:solidFill>
                <a:latin typeface="Opun"/>
                <a:cs typeface="Opun"/>
              </a:rPr>
              <a:t>E-commerce /Marketplace เช่น Shopee, Lazada</a:t>
            </a:r>
          </a:p>
          <a:p>
            <a:pPr marL="647957" lvl="1" indent="-323979" algn="l">
              <a:lnSpc>
                <a:spcPts val="4801"/>
              </a:lnSpc>
              <a:buFont typeface="Arial"/>
              <a:buChar char="•"/>
            </a:pPr>
            <a:r>
              <a:rPr lang="en-US" sz="3001" u="sng">
                <a:solidFill>
                  <a:srgbClr val="000000"/>
                </a:solidFill>
                <a:latin typeface="Opun"/>
                <a:hlinkClick r:id="rId5" tooltip="https://thedigitaltips.com/blog/marketing/social-media-marketing/"/>
              </a:rPr>
              <a:t>Social Media Marketing</a:t>
            </a:r>
            <a:r>
              <a:rPr lang="en-US" sz="3001">
                <a:solidFill>
                  <a:srgbClr val="000000"/>
                </a:solidFill>
                <a:latin typeface="Opun"/>
                <a:cs typeface="Opun"/>
              </a:rPr>
              <a:t> เช่น Facebook, LINE, Twitter, YouTube, TikTok</a:t>
            </a:r>
          </a:p>
          <a:p>
            <a:pPr marL="647957" lvl="1" indent="-323979" algn="l">
              <a:lnSpc>
                <a:spcPts val="4801"/>
              </a:lnSpc>
              <a:buFont typeface="Arial"/>
              <a:buChar char="•"/>
            </a:pPr>
            <a:r>
              <a:rPr lang="en-US" sz="3001" u="sng">
                <a:solidFill>
                  <a:srgbClr val="000000"/>
                </a:solidFill>
                <a:latin typeface="Opun"/>
                <a:hlinkClick r:id="rId6" tooltip="https://thedigitaltips.com/blog/news/metaverse/"/>
              </a:rPr>
              <a:t>Metaverse</a:t>
            </a:r>
            <a:r>
              <a:rPr lang="en-US" sz="3001">
                <a:solidFill>
                  <a:srgbClr val="000000"/>
                </a:solidFill>
                <a:latin typeface="Opun"/>
              </a:rPr>
              <a:t> </a:t>
            </a:r>
            <a:r>
              <a:rPr lang="en-US" sz="3001">
                <a:solidFill>
                  <a:srgbClr val="000000"/>
                </a:solidFill>
                <a:cs typeface="Opun"/>
              </a:rPr>
              <a:t>พื้นที่โฆษณาและร้านค้าบนโลกเสมือน</a:t>
            </a:r>
          </a:p>
          <a:p>
            <a:pPr marL="647957" lvl="1" indent="-323979" algn="l">
              <a:lnSpc>
                <a:spcPts val="4801"/>
              </a:lnSpc>
              <a:buFont typeface="Arial"/>
              <a:buChar char="•"/>
            </a:pPr>
            <a:r>
              <a:rPr lang="en-US" sz="3001">
                <a:solidFill>
                  <a:srgbClr val="000000"/>
                </a:solidFill>
                <a:latin typeface="Opun"/>
                <a:cs typeface="Opun"/>
              </a:rPr>
              <a:t>Gaming Marketing พื้นที่โฆษณาในเกม</a:t>
            </a:r>
          </a:p>
          <a:p>
            <a:pPr marL="647957" lvl="1" indent="-323979" algn="l">
              <a:lnSpc>
                <a:spcPts val="4801"/>
              </a:lnSpc>
              <a:buFont typeface="Arial"/>
              <a:buChar char="•"/>
            </a:pPr>
            <a:r>
              <a:rPr lang="en-US" sz="3001">
                <a:solidFill>
                  <a:srgbClr val="000000"/>
                </a:solidFill>
                <a:latin typeface="Opun"/>
              </a:rPr>
              <a:t>Chatbot / Chat-commerce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98513" y="7651561"/>
            <a:ext cx="4813402" cy="2400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957" lvl="1" indent="-323979" algn="l">
              <a:lnSpc>
                <a:spcPts val="4801"/>
              </a:lnSpc>
              <a:buFont typeface="Arial"/>
              <a:buChar char="•"/>
            </a:pPr>
            <a:r>
              <a:rPr lang="en-US" sz="3001">
                <a:solidFill>
                  <a:srgbClr val="000000"/>
                </a:solidFill>
                <a:cs typeface="Opun"/>
              </a:rPr>
              <a:t>ตลาด</a:t>
            </a:r>
          </a:p>
          <a:p>
            <a:pPr marL="647957" lvl="1" indent="-323979" algn="l">
              <a:lnSpc>
                <a:spcPts val="4801"/>
              </a:lnSpc>
              <a:buFont typeface="Arial"/>
              <a:buChar char="•"/>
            </a:pPr>
            <a:r>
              <a:rPr lang="en-US" sz="3001">
                <a:solidFill>
                  <a:srgbClr val="000000"/>
                </a:solidFill>
                <a:cs typeface="Opun"/>
              </a:rPr>
              <a:t>ร้านสะดวกซื้อ</a:t>
            </a:r>
          </a:p>
          <a:p>
            <a:pPr marL="647957" lvl="1" indent="-323979" algn="l">
              <a:lnSpc>
                <a:spcPts val="4801"/>
              </a:lnSpc>
              <a:buFont typeface="Arial"/>
              <a:buChar char="•"/>
            </a:pPr>
            <a:r>
              <a:rPr lang="en-US" sz="3001">
                <a:solidFill>
                  <a:srgbClr val="000000"/>
                </a:solidFill>
                <a:cs typeface="Opun"/>
              </a:rPr>
              <a:t>ห้างสรรพสินค้า</a:t>
            </a:r>
          </a:p>
          <a:p>
            <a:pPr marL="647957" lvl="1" indent="-323979" algn="l">
              <a:lnSpc>
                <a:spcPts val="4801"/>
              </a:lnSpc>
              <a:buFont typeface="Arial"/>
              <a:buChar char="•"/>
            </a:pPr>
            <a:r>
              <a:rPr lang="en-US" sz="3001">
                <a:solidFill>
                  <a:srgbClr val="000000"/>
                </a:solidFill>
                <a:cs typeface="Opun"/>
              </a:rPr>
              <a:t>ฝากขายตัวแทนจำหน่าย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58267" y="7006399"/>
            <a:ext cx="4813402" cy="571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1"/>
              </a:lnSpc>
            </a:pPr>
            <a:r>
              <a:rPr lang="en-US" sz="3001">
                <a:solidFill>
                  <a:srgbClr val="000000"/>
                </a:solidFill>
                <a:cs typeface="Opun Bold"/>
              </a:rPr>
              <a:t>ตัวอย่างสถานที่จริง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58267" y="1854150"/>
            <a:ext cx="4813402" cy="571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1"/>
              </a:lnSpc>
            </a:pPr>
            <a:r>
              <a:rPr lang="en-US" sz="3001">
                <a:solidFill>
                  <a:srgbClr val="000000"/>
                </a:solidFill>
                <a:cs typeface="Opun Bold"/>
              </a:rPr>
              <a:t>ตัวอย่างช่องทางออนไลน์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9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9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57672">
            <a:off x="5935690" y="-949226"/>
            <a:ext cx="17071958" cy="16139850"/>
          </a:xfrm>
          <a:custGeom>
            <a:avLst/>
            <a:gdLst/>
            <a:ahLst/>
            <a:cxnLst/>
            <a:rect l="l" t="t" r="r" b="b"/>
            <a:pathLst>
              <a:path w="17071958" h="16139850">
                <a:moveTo>
                  <a:pt x="0" y="0"/>
                </a:moveTo>
                <a:lnTo>
                  <a:pt x="17071958" y="0"/>
                </a:lnTo>
                <a:lnTo>
                  <a:pt x="17071958" y="16139850"/>
                </a:lnTo>
                <a:lnTo>
                  <a:pt x="0" y="16139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294913" y="-2369132"/>
            <a:ext cx="4352438" cy="4114800"/>
          </a:xfrm>
          <a:custGeom>
            <a:avLst/>
            <a:gdLst/>
            <a:ahLst/>
            <a:cxnLst/>
            <a:rect l="l" t="t" r="r" b="b"/>
            <a:pathLst>
              <a:path w="4352438" h="4114800">
                <a:moveTo>
                  <a:pt x="0" y="0"/>
                </a:moveTo>
                <a:lnTo>
                  <a:pt x="4352438" y="0"/>
                </a:lnTo>
                <a:lnTo>
                  <a:pt x="43524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390693">
            <a:off x="12682784" y="2873189"/>
            <a:ext cx="4098847" cy="8495020"/>
          </a:xfrm>
          <a:custGeom>
            <a:avLst/>
            <a:gdLst/>
            <a:ahLst/>
            <a:cxnLst/>
            <a:rect l="l" t="t" r="r" b="b"/>
            <a:pathLst>
              <a:path w="4098847" h="8495020">
                <a:moveTo>
                  <a:pt x="0" y="0"/>
                </a:moveTo>
                <a:lnTo>
                  <a:pt x="4098847" y="0"/>
                </a:lnTo>
                <a:lnTo>
                  <a:pt x="4098847" y="8495020"/>
                </a:lnTo>
                <a:lnTo>
                  <a:pt x="0" y="8495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75291" y="3600450"/>
            <a:ext cx="4956025" cy="1371418"/>
            <a:chOff x="0" y="0"/>
            <a:chExt cx="1305290" cy="3611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05290" cy="361196"/>
            </a:xfrm>
            <a:custGeom>
              <a:avLst/>
              <a:gdLst/>
              <a:ahLst/>
              <a:cxnLst/>
              <a:rect l="l" t="t" r="r" b="b"/>
              <a:pathLst>
                <a:path w="1305290" h="361196">
                  <a:moveTo>
                    <a:pt x="0" y="0"/>
                  </a:moveTo>
                  <a:lnTo>
                    <a:pt x="1305290" y="0"/>
                  </a:lnTo>
                  <a:lnTo>
                    <a:pt x="1305290" y="361196"/>
                  </a:lnTo>
                  <a:lnTo>
                    <a:pt x="0" y="361196"/>
                  </a:lnTo>
                  <a:close/>
                </a:path>
              </a:pathLst>
            </a:custGeom>
            <a:solidFill>
              <a:srgbClr val="FFE49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305290" cy="389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81306" y="712523"/>
            <a:ext cx="6593171" cy="2228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00"/>
              </a:lnSpc>
            </a:pPr>
            <a:r>
              <a:rPr lang="en-US" sz="8600">
                <a:solidFill>
                  <a:srgbClr val="000000"/>
                </a:solidFill>
                <a:latin typeface="DM Serif Display"/>
              </a:rPr>
              <a:t>PROMOTION STRATEGY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48381" y="767340"/>
            <a:ext cx="9805850" cy="1946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3"/>
              </a:lnSpc>
            </a:pPr>
            <a:r>
              <a:rPr lang="en-US" sz="3308">
                <a:solidFill>
                  <a:srgbClr val="000000"/>
                </a:solidFill>
                <a:cs typeface="Opun"/>
              </a:rPr>
              <a:t>คือ สิ่งที่แบรนด์หรือธุรกิจจะทำเพื่อดึงดูดลูกค้าให้เข้ามาสนใจแบรนด์และตัดสินใจซื้อสินค้าหรือบริการ โดยกลยุทธ์ส่งเสริมการตลาดและกลยุทธ์การขายก็มีอยู่หลากหลายวิธีด้วยกัน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5291" y="3634833"/>
            <a:ext cx="4813402" cy="1181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1"/>
              </a:lnSpc>
            </a:pPr>
            <a:r>
              <a:rPr lang="en-US" sz="3001">
                <a:solidFill>
                  <a:srgbClr val="000000"/>
                </a:solidFill>
                <a:cs typeface="Opun Bold"/>
              </a:rPr>
              <a:t>จงยกตัวอย่างกลยุทธ์การตลาดและการขายเบื้องต้น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81306" y="5509967"/>
            <a:ext cx="11870000" cy="3946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4225" lvl="1" indent="-357113" algn="l">
              <a:lnSpc>
                <a:spcPts val="5293"/>
              </a:lnSpc>
              <a:buFont typeface="Arial"/>
              <a:buChar char="•"/>
            </a:pPr>
            <a:r>
              <a:rPr lang="en-US" sz="3308">
                <a:solidFill>
                  <a:srgbClr val="000000"/>
                </a:solidFill>
                <a:latin typeface="Opun"/>
                <a:cs typeface="Opun"/>
              </a:rPr>
              <a:t>กลยุทธ์การตลาดดิจิทัล (Digital Marketing)</a:t>
            </a:r>
          </a:p>
          <a:p>
            <a:pPr marL="714225" lvl="1" indent="-357113" algn="l">
              <a:lnSpc>
                <a:spcPts val="5293"/>
              </a:lnSpc>
              <a:buFont typeface="Arial"/>
              <a:buChar char="•"/>
            </a:pPr>
            <a:r>
              <a:rPr lang="en-US" sz="3308">
                <a:solidFill>
                  <a:srgbClr val="000000"/>
                </a:solidFill>
                <a:latin typeface="Opun"/>
                <a:cs typeface="Opun"/>
              </a:rPr>
              <a:t>กลยุทธ์การตลาดผ่านสื่อโซเชียล (Social Marketing)</a:t>
            </a:r>
          </a:p>
          <a:p>
            <a:pPr marL="714225" lvl="1" indent="-357113" algn="l">
              <a:lnSpc>
                <a:spcPts val="5293"/>
              </a:lnSpc>
              <a:buFont typeface="Arial"/>
              <a:buChar char="•"/>
            </a:pPr>
            <a:r>
              <a:rPr lang="en-US" sz="3308">
                <a:solidFill>
                  <a:srgbClr val="000000"/>
                </a:solidFill>
                <a:latin typeface="Opun"/>
                <a:cs typeface="Opun"/>
              </a:rPr>
              <a:t>กลยุทธ์การใช้ผู้มีอิทธิพล (Influencer Marketing) </a:t>
            </a:r>
          </a:p>
          <a:p>
            <a:pPr marL="714225" lvl="1" indent="-357113" algn="l">
              <a:lnSpc>
                <a:spcPts val="5293"/>
              </a:lnSpc>
              <a:buFont typeface="Arial"/>
              <a:buChar char="•"/>
            </a:pPr>
            <a:r>
              <a:rPr lang="en-US" sz="3308">
                <a:solidFill>
                  <a:srgbClr val="000000"/>
                </a:solidFill>
                <a:latin typeface="Opun"/>
                <a:cs typeface="Opun"/>
              </a:rPr>
              <a:t>กลยุทธ์การตลาดแบบบอกต่อ หรือ Word-of-Mouth Marketing</a:t>
            </a:r>
          </a:p>
          <a:p>
            <a:pPr marL="714225" lvl="1" indent="-357113" algn="l">
              <a:lnSpc>
                <a:spcPts val="5293"/>
              </a:lnSpc>
              <a:buFont typeface="Arial"/>
              <a:buChar char="•"/>
            </a:pPr>
            <a:r>
              <a:rPr lang="en-US" sz="3308">
                <a:solidFill>
                  <a:srgbClr val="000000"/>
                </a:solidFill>
                <a:latin typeface="Opun"/>
                <a:cs typeface="Opun"/>
              </a:rPr>
              <a:t>CRM: Customer Relationship Management เช่น การสะสมแต้ม </a:t>
            </a:r>
          </a:p>
          <a:p>
            <a:pPr marL="714225" lvl="1" indent="-357113" algn="l">
              <a:lnSpc>
                <a:spcPts val="5293"/>
              </a:lnSpc>
              <a:buFont typeface="Arial"/>
              <a:buChar char="•"/>
            </a:pPr>
            <a:r>
              <a:rPr lang="en-US" sz="3308">
                <a:solidFill>
                  <a:srgbClr val="000000"/>
                </a:solidFill>
                <a:cs typeface="Opun"/>
              </a:rPr>
              <a:t>กลยุทธ์การขาย เช่น ลด แลก แจก แถม ฯลฯ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9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9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09675"/>
            <a:ext cx="7808404" cy="3599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45"/>
              </a:lnSpc>
            </a:pPr>
            <a:r>
              <a:rPr lang="en-US" sz="9345">
                <a:solidFill>
                  <a:srgbClr val="000000"/>
                </a:solidFill>
                <a:latin typeface="DM Serif Display"/>
              </a:rPr>
              <a:t>DIGITAL MARKETING STRATEGY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1064" y="5187615"/>
            <a:ext cx="8577460" cy="2527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5"/>
              </a:lnSpc>
            </a:pPr>
            <a:r>
              <a:rPr lang="en-US" sz="3209">
                <a:solidFill>
                  <a:srgbClr val="000000"/>
                </a:solidFill>
                <a:latin typeface="Opun"/>
                <a:cs typeface="Opun"/>
              </a:rPr>
              <a:t>การทำ Digital Marketing &amp; Social Media Marketing ก็ช่วยให้เราติดตามข้อมูลและผลลัพธ์ต่าง ๆ ได้ ที่สำคัญ ใช้ต้นทุนไม่มาก แถมยังมีลูกเล่นและกลยุทธ์มากมายให้ใช้อีกด้วย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558211" y="0"/>
            <a:ext cx="8729789" cy="10622880"/>
            <a:chOff x="0" y="0"/>
            <a:chExt cx="698376" cy="84982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98376" cy="849821"/>
            </a:xfrm>
            <a:custGeom>
              <a:avLst/>
              <a:gdLst/>
              <a:ahLst/>
              <a:cxnLst/>
              <a:rect l="l" t="t" r="r" b="b"/>
              <a:pathLst>
                <a:path w="698376" h="849821">
                  <a:moveTo>
                    <a:pt x="0" y="0"/>
                  </a:moveTo>
                  <a:lnTo>
                    <a:pt x="698376" y="0"/>
                  </a:lnTo>
                  <a:lnTo>
                    <a:pt x="698376" y="849821"/>
                  </a:lnTo>
                  <a:lnTo>
                    <a:pt x="0" y="849821"/>
                  </a:lnTo>
                  <a:close/>
                </a:path>
              </a:pathLst>
            </a:custGeom>
            <a:solidFill>
              <a:srgbClr val="FFE49A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698376" cy="878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305722" y="-167940"/>
            <a:ext cx="607099" cy="10622880"/>
            <a:chOff x="0" y="0"/>
            <a:chExt cx="48567" cy="84982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567" cy="849821"/>
            </a:xfrm>
            <a:custGeom>
              <a:avLst/>
              <a:gdLst/>
              <a:ahLst/>
              <a:cxnLst/>
              <a:rect l="l" t="t" r="r" b="b"/>
              <a:pathLst>
                <a:path w="48567" h="849821">
                  <a:moveTo>
                    <a:pt x="0" y="0"/>
                  </a:moveTo>
                  <a:lnTo>
                    <a:pt x="48567" y="0"/>
                  </a:lnTo>
                  <a:lnTo>
                    <a:pt x="48567" y="849821"/>
                  </a:lnTo>
                  <a:lnTo>
                    <a:pt x="0" y="849821"/>
                  </a:lnTo>
                  <a:close/>
                </a:path>
              </a:pathLst>
            </a:custGeom>
            <a:solidFill>
              <a:srgbClr val="FFE49A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48567" cy="878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0719" y="205740"/>
            <a:ext cx="8331541" cy="9875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20703" y="-554638"/>
            <a:ext cx="10787172" cy="11396276"/>
            <a:chOff x="0" y="0"/>
            <a:chExt cx="668398" cy="7061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8398" cy="706139"/>
            </a:xfrm>
            <a:custGeom>
              <a:avLst/>
              <a:gdLst/>
              <a:ahLst/>
              <a:cxnLst/>
              <a:rect l="l" t="t" r="r" b="b"/>
              <a:pathLst>
                <a:path w="668398" h="706139">
                  <a:moveTo>
                    <a:pt x="334199" y="0"/>
                  </a:moveTo>
                  <a:cubicBezTo>
                    <a:pt x="149626" y="0"/>
                    <a:pt x="0" y="158075"/>
                    <a:pt x="0" y="353070"/>
                  </a:cubicBezTo>
                  <a:cubicBezTo>
                    <a:pt x="0" y="548065"/>
                    <a:pt x="149626" y="706139"/>
                    <a:pt x="334199" y="706139"/>
                  </a:cubicBezTo>
                  <a:cubicBezTo>
                    <a:pt x="518772" y="706139"/>
                    <a:pt x="668398" y="548065"/>
                    <a:pt x="668398" y="353070"/>
                  </a:cubicBezTo>
                  <a:cubicBezTo>
                    <a:pt x="668398" y="158075"/>
                    <a:pt x="518772" y="0"/>
                    <a:pt x="334199" y="0"/>
                  </a:cubicBezTo>
                  <a:close/>
                </a:path>
              </a:pathLst>
            </a:custGeom>
            <a:solidFill>
              <a:srgbClr val="FFE49A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2662" y="37626"/>
              <a:ext cx="543073" cy="602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05722" y="-167940"/>
            <a:ext cx="607099" cy="10622880"/>
            <a:chOff x="0" y="0"/>
            <a:chExt cx="48567" cy="84982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567" cy="849821"/>
            </a:xfrm>
            <a:custGeom>
              <a:avLst/>
              <a:gdLst/>
              <a:ahLst/>
              <a:cxnLst/>
              <a:rect l="l" t="t" r="r" b="b"/>
              <a:pathLst>
                <a:path w="48567" h="849821">
                  <a:moveTo>
                    <a:pt x="0" y="0"/>
                  </a:moveTo>
                  <a:lnTo>
                    <a:pt x="48567" y="0"/>
                  </a:lnTo>
                  <a:lnTo>
                    <a:pt x="48567" y="849821"/>
                  </a:lnTo>
                  <a:lnTo>
                    <a:pt x="0" y="849821"/>
                  </a:lnTo>
                  <a:close/>
                </a:path>
              </a:pathLst>
            </a:custGeom>
            <a:solidFill>
              <a:srgbClr val="FFE49A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8567" cy="878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277684" y="1945123"/>
            <a:ext cx="11695232" cy="7313177"/>
          </a:xfrm>
          <a:custGeom>
            <a:avLst/>
            <a:gdLst/>
            <a:ahLst/>
            <a:cxnLst/>
            <a:rect l="l" t="t" r="r" b="b"/>
            <a:pathLst>
              <a:path w="11695232" h="7313177">
                <a:moveTo>
                  <a:pt x="0" y="0"/>
                </a:moveTo>
                <a:lnTo>
                  <a:pt x="11695233" y="0"/>
                </a:lnTo>
                <a:lnTo>
                  <a:pt x="11695233" y="7313177"/>
                </a:lnTo>
                <a:lnTo>
                  <a:pt x="0" y="73131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08716" y="530908"/>
            <a:ext cx="7127330" cy="2040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88"/>
              </a:lnSpc>
            </a:pPr>
            <a:r>
              <a:rPr lang="en-US" sz="7888">
                <a:solidFill>
                  <a:srgbClr val="000000"/>
                </a:solidFill>
                <a:latin typeface="DM Serif Display"/>
              </a:rPr>
              <a:t>SOCIAL MEDIA MARKETING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4002" y="3234411"/>
            <a:ext cx="5554133" cy="5225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54"/>
              </a:lnSpc>
            </a:pPr>
            <a:r>
              <a:rPr lang="en-US" sz="3721">
                <a:solidFill>
                  <a:srgbClr val="000000"/>
                </a:solidFill>
                <a:latin typeface="Opun"/>
                <a:cs typeface="Opun"/>
              </a:rPr>
              <a:t>จากรายงานข้างต้น คนไทยมีบัญชีใช้งานโซเชียลมีเดียถึง 56.85 ล้านบัญชี และใช้เวลาบนโซเชียลมีเดียมากถึงวันละเกือบ 3 ชั่วโมง ดังนั้น Social Media Marketing จึงเป็นกลยุทธ์การตลาดที่ไม่ควรมองข้าม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199409" flipH="1">
            <a:off x="-5783220" y="-358988"/>
            <a:ext cx="16730850" cy="15817366"/>
          </a:xfrm>
          <a:custGeom>
            <a:avLst/>
            <a:gdLst/>
            <a:ahLst/>
            <a:cxnLst/>
            <a:rect l="l" t="t" r="r" b="b"/>
            <a:pathLst>
              <a:path w="16730850" h="15817366">
                <a:moveTo>
                  <a:pt x="16730850" y="0"/>
                </a:moveTo>
                <a:lnTo>
                  <a:pt x="0" y="0"/>
                </a:lnTo>
                <a:lnTo>
                  <a:pt x="0" y="15817366"/>
                </a:lnTo>
                <a:lnTo>
                  <a:pt x="16730850" y="15817366"/>
                </a:lnTo>
                <a:lnTo>
                  <a:pt x="1673085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984450" y="-167940"/>
            <a:ext cx="607099" cy="10622880"/>
            <a:chOff x="0" y="0"/>
            <a:chExt cx="48567" cy="8498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567" cy="849821"/>
            </a:xfrm>
            <a:custGeom>
              <a:avLst/>
              <a:gdLst/>
              <a:ahLst/>
              <a:cxnLst/>
              <a:rect l="l" t="t" r="r" b="b"/>
              <a:pathLst>
                <a:path w="48567" h="849821">
                  <a:moveTo>
                    <a:pt x="0" y="0"/>
                  </a:moveTo>
                  <a:lnTo>
                    <a:pt x="48567" y="0"/>
                  </a:lnTo>
                  <a:lnTo>
                    <a:pt x="48567" y="849821"/>
                  </a:lnTo>
                  <a:lnTo>
                    <a:pt x="0" y="849821"/>
                  </a:lnTo>
                  <a:close/>
                </a:path>
              </a:pathLst>
            </a:custGeom>
            <a:solidFill>
              <a:srgbClr val="FFE49A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8567" cy="878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8846483" y="819208"/>
            <a:ext cx="0" cy="157647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 flipH="1">
            <a:off x="1028700" y="1607445"/>
            <a:ext cx="7001389" cy="7072110"/>
          </a:xfrm>
          <a:custGeom>
            <a:avLst/>
            <a:gdLst/>
            <a:ahLst/>
            <a:cxnLst/>
            <a:rect l="l" t="t" r="r" b="b"/>
            <a:pathLst>
              <a:path w="7001389" h="7072110">
                <a:moveTo>
                  <a:pt x="7001389" y="0"/>
                </a:moveTo>
                <a:lnTo>
                  <a:pt x="0" y="0"/>
                </a:lnTo>
                <a:lnTo>
                  <a:pt x="0" y="7072110"/>
                </a:lnTo>
                <a:lnTo>
                  <a:pt x="7001389" y="7072110"/>
                </a:lnTo>
                <a:lnTo>
                  <a:pt x="7001389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263087" y="488631"/>
            <a:ext cx="8192074" cy="2418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45"/>
              </a:lnSpc>
            </a:pPr>
            <a:r>
              <a:rPr lang="en-US" sz="9345">
                <a:solidFill>
                  <a:srgbClr val="000000"/>
                </a:solidFill>
                <a:latin typeface="DM Serif Display"/>
              </a:rPr>
              <a:t>VIDEO MARKETING</a:t>
            </a:r>
          </a:p>
        </p:txBody>
      </p:sp>
      <p:sp>
        <p:nvSpPr>
          <p:cNvPr id="9" name="Freeform 9"/>
          <p:cNvSpPr/>
          <p:nvPr/>
        </p:nvSpPr>
        <p:spPr>
          <a:xfrm rot="5207285">
            <a:off x="3643179" y="294677"/>
            <a:ext cx="880590" cy="1657222"/>
          </a:xfrm>
          <a:custGeom>
            <a:avLst/>
            <a:gdLst/>
            <a:ahLst/>
            <a:cxnLst/>
            <a:rect l="l" t="t" r="r" b="b"/>
            <a:pathLst>
              <a:path w="880590" h="1657222">
                <a:moveTo>
                  <a:pt x="0" y="0"/>
                </a:moveTo>
                <a:lnTo>
                  <a:pt x="880590" y="0"/>
                </a:lnTo>
                <a:lnTo>
                  <a:pt x="880590" y="1657222"/>
                </a:lnTo>
                <a:lnTo>
                  <a:pt x="0" y="16572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319230" y="3595848"/>
            <a:ext cx="9656093" cy="2961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54"/>
              </a:lnSpc>
            </a:pPr>
            <a:r>
              <a:rPr lang="en-US" sz="3721">
                <a:solidFill>
                  <a:srgbClr val="000000"/>
                </a:solidFill>
                <a:latin typeface="Opun"/>
                <a:cs typeface="Opun"/>
              </a:rPr>
              <a:t>ปัจจุบันเป็นยุคที่วิดีโอได้รับความนิยมมาก โดยเฉพาะอย่างยิ่งวิดีโอสั้นที่แพลตฟอร์มโซเชียลมีเดียเจ้าต่าง ๆ พยายามผลักดัน ตั้งแต่ TikTok, Reels ของ IG และ Facebook, Shorts จาก YouTube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9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44930" y="0"/>
            <a:ext cx="7243070" cy="10622880"/>
            <a:chOff x="0" y="0"/>
            <a:chExt cx="579439" cy="8498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9439" cy="849821"/>
            </a:xfrm>
            <a:custGeom>
              <a:avLst/>
              <a:gdLst/>
              <a:ahLst/>
              <a:cxnLst/>
              <a:rect l="l" t="t" r="r" b="b"/>
              <a:pathLst>
                <a:path w="579439" h="849821">
                  <a:moveTo>
                    <a:pt x="0" y="0"/>
                  </a:moveTo>
                  <a:lnTo>
                    <a:pt x="579439" y="0"/>
                  </a:lnTo>
                  <a:lnTo>
                    <a:pt x="579439" y="849821"/>
                  </a:lnTo>
                  <a:lnTo>
                    <a:pt x="0" y="849821"/>
                  </a:lnTo>
                  <a:close/>
                </a:path>
              </a:pathLst>
            </a:custGeom>
            <a:solidFill>
              <a:srgbClr val="FFE49A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579439" cy="878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05722" y="-167940"/>
            <a:ext cx="607099" cy="10622880"/>
            <a:chOff x="0" y="0"/>
            <a:chExt cx="48567" cy="84982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567" cy="849821"/>
            </a:xfrm>
            <a:custGeom>
              <a:avLst/>
              <a:gdLst/>
              <a:ahLst/>
              <a:cxnLst/>
              <a:rect l="l" t="t" r="r" b="b"/>
              <a:pathLst>
                <a:path w="48567" h="849821">
                  <a:moveTo>
                    <a:pt x="0" y="0"/>
                  </a:moveTo>
                  <a:lnTo>
                    <a:pt x="48567" y="0"/>
                  </a:lnTo>
                  <a:lnTo>
                    <a:pt x="48567" y="849821"/>
                  </a:lnTo>
                  <a:lnTo>
                    <a:pt x="0" y="849821"/>
                  </a:lnTo>
                  <a:close/>
                </a:path>
              </a:pathLst>
            </a:custGeom>
            <a:solidFill>
              <a:srgbClr val="FFE49A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8567" cy="878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127603" y="1028700"/>
            <a:ext cx="8131697" cy="8229600"/>
          </a:xfrm>
          <a:custGeom>
            <a:avLst/>
            <a:gdLst/>
            <a:ahLst/>
            <a:cxnLst/>
            <a:rect l="l" t="t" r="r" b="b"/>
            <a:pathLst>
              <a:path w="8131697" h="8229600">
                <a:moveTo>
                  <a:pt x="0" y="0"/>
                </a:moveTo>
                <a:lnTo>
                  <a:pt x="8131697" y="0"/>
                </a:lnTo>
                <a:lnTo>
                  <a:pt x="813169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06215" y="649011"/>
            <a:ext cx="7808404" cy="2418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45"/>
              </a:lnSpc>
            </a:pPr>
            <a:r>
              <a:rPr lang="en-US" sz="9345">
                <a:solidFill>
                  <a:srgbClr val="000000"/>
                </a:solidFill>
                <a:latin typeface="DM Serif Display"/>
              </a:rPr>
              <a:t>INFLUENCER MARKETING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453469"/>
            <a:ext cx="7004698" cy="4868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22"/>
              </a:lnSpc>
            </a:pPr>
            <a:r>
              <a:rPr lang="en-US" sz="3013">
                <a:solidFill>
                  <a:srgbClr val="000000"/>
                </a:solidFill>
                <a:latin typeface="Opun"/>
                <a:cs typeface="Opun"/>
              </a:rPr>
              <a:t>        คือ การทำการตลาดโดยใช้บุคคลที่มี</a:t>
            </a:r>
          </a:p>
          <a:p>
            <a:pPr algn="l">
              <a:lnSpc>
                <a:spcPts val="4822"/>
              </a:lnSpc>
            </a:pPr>
            <a:r>
              <a:rPr lang="en-US" sz="3013">
                <a:solidFill>
                  <a:srgbClr val="000000"/>
                </a:solidFill>
                <a:latin typeface="Opun"/>
                <a:cs typeface="Opun"/>
              </a:rPr>
              <a:t>ชื่อเสียงหรือมีผู้ติดตามให้ ‘ช่วยบอกต่อ’ แบรนด์หรือสินค้าให้คนที่ติดตามเขาได้รู้จัก </a:t>
            </a:r>
          </a:p>
          <a:p>
            <a:pPr algn="l">
              <a:lnSpc>
                <a:spcPts val="4822"/>
              </a:lnSpc>
            </a:pPr>
            <a:r>
              <a:rPr lang="en-US" sz="3013">
                <a:solidFill>
                  <a:srgbClr val="000000"/>
                </a:solidFill>
                <a:latin typeface="Opun"/>
              </a:rPr>
              <a:t>       </a:t>
            </a:r>
            <a:r>
              <a:rPr lang="en-US" sz="3013">
                <a:solidFill>
                  <a:srgbClr val="000000"/>
                </a:solidFill>
                <a:latin typeface="Opun"/>
                <a:cs typeface="Opun"/>
              </a:rPr>
              <a:t>ในปัจจุบันการทำ Influencer marketing มักใช้ผ่านช่องทางโซเชียลมีเดียช่องทาง</a:t>
            </a:r>
          </a:p>
          <a:p>
            <a:pPr algn="l">
              <a:lnSpc>
                <a:spcPts val="4822"/>
              </a:lnSpc>
            </a:pPr>
            <a:r>
              <a:rPr lang="en-US" sz="3013">
                <a:solidFill>
                  <a:srgbClr val="000000"/>
                </a:solidFill>
                <a:latin typeface="Opun"/>
                <a:cs typeface="Opun"/>
              </a:rPr>
              <a:t>ต่าง ๆ ในหลายรูปแบบ เช่น การรีวิวสินค้า/บริการ การโฆษณา การทำคอนเทนต์ร่วมกับตัว Influencer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9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94913" y="-2346358"/>
            <a:ext cx="4352438" cy="4114800"/>
          </a:xfrm>
          <a:custGeom>
            <a:avLst/>
            <a:gdLst/>
            <a:ahLst/>
            <a:cxnLst/>
            <a:rect l="l" t="t" r="r" b="b"/>
            <a:pathLst>
              <a:path w="4352438" h="4114800">
                <a:moveTo>
                  <a:pt x="0" y="0"/>
                </a:moveTo>
                <a:lnTo>
                  <a:pt x="4352438" y="0"/>
                </a:lnTo>
                <a:lnTo>
                  <a:pt x="43524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793816" y="-266185"/>
            <a:ext cx="4700368" cy="10819370"/>
            <a:chOff x="0" y="0"/>
            <a:chExt cx="173054" cy="39833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3054" cy="398337"/>
            </a:xfrm>
            <a:custGeom>
              <a:avLst/>
              <a:gdLst/>
              <a:ahLst/>
              <a:cxnLst/>
              <a:rect l="l" t="t" r="r" b="b"/>
              <a:pathLst>
                <a:path w="173054" h="398337">
                  <a:moveTo>
                    <a:pt x="0" y="0"/>
                  </a:moveTo>
                  <a:lnTo>
                    <a:pt x="173054" y="0"/>
                  </a:lnTo>
                  <a:lnTo>
                    <a:pt x="173054" y="398337"/>
                  </a:lnTo>
                  <a:lnTo>
                    <a:pt x="0" y="398337"/>
                  </a:lnTo>
                  <a:close/>
                </a:path>
              </a:pathLst>
            </a:custGeom>
            <a:solidFill>
              <a:srgbClr val="FFE49A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73054" cy="426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V="1">
            <a:off x="-1294913" y="8516340"/>
            <a:ext cx="4352438" cy="4114800"/>
          </a:xfrm>
          <a:custGeom>
            <a:avLst/>
            <a:gdLst/>
            <a:ahLst/>
            <a:cxnLst/>
            <a:rect l="l" t="t" r="r" b="b"/>
            <a:pathLst>
              <a:path w="4352438" h="4114800">
                <a:moveTo>
                  <a:pt x="0" y="4114800"/>
                </a:moveTo>
                <a:lnTo>
                  <a:pt x="4352438" y="4114800"/>
                </a:lnTo>
                <a:lnTo>
                  <a:pt x="435243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5227984" y="-2346358"/>
            <a:ext cx="4352438" cy="4114800"/>
          </a:xfrm>
          <a:custGeom>
            <a:avLst/>
            <a:gdLst/>
            <a:ahLst/>
            <a:cxnLst/>
            <a:rect l="l" t="t" r="r" b="b"/>
            <a:pathLst>
              <a:path w="4352438" h="4114800">
                <a:moveTo>
                  <a:pt x="4352438" y="0"/>
                </a:moveTo>
                <a:lnTo>
                  <a:pt x="0" y="0"/>
                </a:lnTo>
                <a:lnTo>
                  <a:pt x="0" y="4114800"/>
                </a:lnTo>
                <a:lnTo>
                  <a:pt x="4352438" y="4114800"/>
                </a:lnTo>
                <a:lnTo>
                  <a:pt x="43524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15227984" y="8516340"/>
            <a:ext cx="4352438" cy="4114800"/>
          </a:xfrm>
          <a:custGeom>
            <a:avLst/>
            <a:gdLst/>
            <a:ahLst/>
            <a:cxnLst/>
            <a:rect l="l" t="t" r="r" b="b"/>
            <a:pathLst>
              <a:path w="4352438" h="4114800">
                <a:moveTo>
                  <a:pt x="43524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52438" y="0"/>
                </a:lnTo>
                <a:lnTo>
                  <a:pt x="435243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882269" y="2749078"/>
            <a:ext cx="4611915" cy="4882486"/>
          </a:xfrm>
          <a:custGeom>
            <a:avLst/>
            <a:gdLst/>
            <a:ahLst/>
            <a:cxnLst/>
            <a:rect l="l" t="t" r="r" b="b"/>
            <a:pathLst>
              <a:path w="4611915" h="4882486">
                <a:moveTo>
                  <a:pt x="0" y="0"/>
                </a:moveTo>
                <a:lnTo>
                  <a:pt x="4611915" y="0"/>
                </a:lnTo>
                <a:lnTo>
                  <a:pt x="4611915" y="4882486"/>
                </a:lnTo>
                <a:lnTo>
                  <a:pt x="0" y="48824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3054" y="856664"/>
            <a:ext cx="6719215" cy="2418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45"/>
              </a:lnSpc>
            </a:pPr>
            <a:r>
              <a:rPr lang="en-US" sz="9345">
                <a:solidFill>
                  <a:srgbClr val="000000"/>
                </a:solidFill>
                <a:latin typeface="DM Serif Display"/>
              </a:rPr>
              <a:t>AFFILIATE MARKETING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7281" y="3768119"/>
            <a:ext cx="6630762" cy="4648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32"/>
              </a:lnSpc>
            </a:pPr>
            <a:r>
              <a:rPr lang="en-US" sz="3333">
                <a:solidFill>
                  <a:srgbClr val="000000"/>
                </a:solidFill>
                <a:latin typeface="Opun"/>
                <a:cs typeface="Opun"/>
              </a:rPr>
              <a:t>        คือ รูปแบบการทำการตลาดรูปแบบหนึ่งที่ให้บุคคลที่สาม ช่วยบอกต่อสินค้า/บริการจากแบรนด์ ผ่านลิงก์สินค้า Affiliate Link โดยที่คนที่ช่วยบอกต่อจะเป็นใครก็ได้และคนที่จะบอกต่อจะได้ค่าส่วนแบ่ง หรือที่เรียกว่า “ค่าคอม” (Commission)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08509" y="1239759"/>
            <a:ext cx="6328220" cy="1423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8"/>
              </a:lnSpc>
            </a:pPr>
            <a:r>
              <a:rPr lang="en-US" sz="4337">
                <a:solidFill>
                  <a:srgbClr val="000000"/>
                </a:solidFill>
                <a:latin typeface="Opun Bold"/>
                <a:cs typeface="Opun Bold"/>
              </a:rPr>
              <a:t>จุดเด่นของการทำ Affiliate Marketing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657238" y="3768119"/>
            <a:ext cx="6630762" cy="4012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9603" lvl="1" indent="-359801" algn="l">
              <a:lnSpc>
                <a:spcPts val="5332"/>
              </a:lnSpc>
              <a:buFont typeface="Arial"/>
              <a:buChar char="•"/>
            </a:pPr>
            <a:r>
              <a:rPr lang="en-US" sz="3333">
                <a:solidFill>
                  <a:srgbClr val="000000"/>
                </a:solidFill>
                <a:cs typeface="Opun"/>
              </a:rPr>
              <a:t>เหมือนมีคนช่วยแบรนด์ทำการตลาด</a:t>
            </a:r>
          </a:p>
          <a:p>
            <a:pPr marL="719603" lvl="1" indent="-359801" algn="l">
              <a:lnSpc>
                <a:spcPts val="5332"/>
              </a:lnSpc>
              <a:buFont typeface="Arial"/>
              <a:buChar char="•"/>
            </a:pPr>
            <a:r>
              <a:rPr lang="en-US" sz="3333">
                <a:solidFill>
                  <a:srgbClr val="000000"/>
                </a:solidFill>
                <a:cs typeface="Opun"/>
              </a:rPr>
              <a:t>ผู้คนเชื่อถือคนที่คล้ายกับพวกเขา</a:t>
            </a:r>
          </a:p>
          <a:p>
            <a:pPr marL="719603" lvl="1" indent="-359801" algn="l">
              <a:lnSpc>
                <a:spcPts val="5332"/>
              </a:lnSpc>
              <a:buFont typeface="Arial"/>
              <a:buChar char="•"/>
            </a:pPr>
            <a:r>
              <a:rPr lang="en-US" sz="3333">
                <a:solidFill>
                  <a:srgbClr val="000000"/>
                </a:solidFill>
                <a:latin typeface="Opun"/>
                <a:cs typeface="Opun"/>
              </a:rPr>
              <a:t>สามารถใช้ร่วมกับกลยุทธ์การตลาด Influencer Marketing ได้</a:t>
            </a:r>
          </a:p>
          <a:p>
            <a:pPr marL="719603" lvl="1" indent="-359801" algn="l">
              <a:lnSpc>
                <a:spcPts val="5332"/>
              </a:lnSpc>
              <a:buFont typeface="Arial"/>
              <a:buChar char="•"/>
            </a:pPr>
            <a:r>
              <a:rPr lang="en-US" sz="3333">
                <a:solidFill>
                  <a:srgbClr val="000000"/>
                </a:solidFill>
                <a:latin typeface="Opun"/>
                <a:cs typeface="Opun"/>
              </a:rPr>
              <a:t>ใช้งบประมาณเมื่อปิดการขาย หรือได้ Conversion เท่านั้น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9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 tmFilter="0,0; .5, 1; 1, 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V="1">
            <a:off x="10050231" y="2115241"/>
            <a:ext cx="9172763" cy="6354223"/>
          </a:xfrm>
          <a:custGeom>
            <a:avLst/>
            <a:gdLst/>
            <a:ahLst/>
            <a:cxnLst/>
            <a:rect l="l" t="t" r="r" b="b"/>
            <a:pathLst>
              <a:path w="9172763" h="6354223">
                <a:moveTo>
                  <a:pt x="0" y="6354224"/>
                </a:moveTo>
                <a:lnTo>
                  <a:pt x="9172763" y="6354224"/>
                </a:lnTo>
                <a:lnTo>
                  <a:pt x="9172763" y="0"/>
                </a:lnTo>
                <a:lnTo>
                  <a:pt x="0" y="0"/>
                </a:lnTo>
                <a:lnTo>
                  <a:pt x="0" y="63542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799605" y="719306"/>
            <a:ext cx="6940389" cy="9147998"/>
            <a:chOff x="0" y="0"/>
            <a:chExt cx="1827921" cy="24093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27922" cy="2409349"/>
            </a:xfrm>
            <a:custGeom>
              <a:avLst/>
              <a:gdLst/>
              <a:ahLst/>
              <a:cxnLst/>
              <a:rect l="l" t="t" r="r" b="b"/>
              <a:pathLst>
                <a:path w="1827922" h="2409349">
                  <a:moveTo>
                    <a:pt x="0" y="0"/>
                  </a:moveTo>
                  <a:lnTo>
                    <a:pt x="1827922" y="0"/>
                  </a:lnTo>
                  <a:lnTo>
                    <a:pt x="1827922" y="2409349"/>
                  </a:lnTo>
                  <a:lnTo>
                    <a:pt x="0" y="2409349"/>
                  </a:lnTo>
                  <a:close/>
                </a:path>
              </a:pathLst>
            </a:custGeom>
            <a:solidFill>
              <a:srgbClr val="F5904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827921" cy="2456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5400000">
            <a:off x="-685826" y="2115241"/>
            <a:ext cx="9172763" cy="6354223"/>
          </a:xfrm>
          <a:custGeom>
            <a:avLst/>
            <a:gdLst/>
            <a:ahLst/>
            <a:cxnLst/>
            <a:rect l="l" t="t" r="r" b="b"/>
            <a:pathLst>
              <a:path w="9172763" h="6354223">
                <a:moveTo>
                  <a:pt x="0" y="0"/>
                </a:moveTo>
                <a:lnTo>
                  <a:pt x="9172763" y="0"/>
                </a:lnTo>
                <a:lnTo>
                  <a:pt x="9172763" y="6354224"/>
                </a:lnTo>
                <a:lnTo>
                  <a:pt x="0" y="6354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 flipV="1">
            <a:off x="9924432" y="1966388"/>
            <a:ext cx="9172763" cy="6354223"/>
          </a:xfrm>
          <a:custGeom>
            <a:avLst/>
            <a:gdLst/>
            <a:ahLst/>
            <a:cxnLst/>
            <a:rect l="l" t="t" r="r" b="b"/>
            <a:pathLst>
              <a:path w="9172763" h="6354223">
                <a:moveTo>
                  <a:pt x="0" y="6354224"/>
                </a:moveTo>
                <a:lnTo>
                  <a:pt x="9172763" y="6354224"/>
                </a:lnTo>
                <a:lnTo>
                  <a:pt x="9172763" y="0"/>
                </a:lnTo>
                <a:lnTo>
                  <a:pt x="0" y="0"/>
                </a:lnTo>
                <a:lnTo>
                  <a:pt x="0" y="635422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673805" y="570453"/>
            <a:ext cx="6940389" cy="9147998"/>
            <a:chOff x="0" y="0"/>
            <a:chExt cx="1827921" cy="240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7922" cy="2409349"/>
            </a:xfrm>
            <a:custGeom>
              <a:avLst/>
              <a:gdLst/>
              <a:ahLst/>
              <a:cxnLst/>
              <a:rect l="l" t="t" r="r" b="b"/>
              <a:pathLst>
                <a:path w="1827922" h="2409349">
                  <a:moveTo>
                    <a:pt x="0" y="0"/>
                  </a:moveTo>
                  <a:lnTo>
                    <a:pt x="1827922" y="0"/>
                  </a:lnTo>
                  <a:lnTo>
                    <a:pt x="1827922" y="2409349"/>
                  </a:lnTo>
                  <a:lnTo>
                    <a:pt x="0" y="2409349"/>
                  </a:lnTo>
                  <a:close/>
                </a:path>
              </a:pathLst>
            </a:custGeom>
            <a:solidFill>
              <a:srgbClr val="568A6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827921" cy="2456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-4364305" flipH="1">
            <a:off x="14445761" y="1528357"/>
            <a:ext cx="2308448" cy="2373171"/>
          </a:xfrm>
          <a:custGeom>
            <a:avLst/>
            <a:gdLst/>
            <a:ahLst/>
            <a:cxnLst/>
            <a:rect l="l" t="t" r="r" b="b"/>
            <a:pathLst>
              <a:path w="2308448" h="2373171">
                <a:moveTo>
                  <a:pt x="2308447" y="0"/>
                </a:moveTo>
                <a:lnTo>
                  <a:pt x="0" y="0"/>
                </a:lnTo>
                <a:lnTo>
                  <a:pt x="0" y="2373171"/>
                </a:lnTo>
                <a:lnTo>
                  <a:pt x="2308447" y="2373171"/>
                </a:lnTo>
                <a:lnTo>
                  <a:pt x="230844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5400000">
            <a:off x="-811626" y="1966388"/>
            <a:ext cx="9172763" cy="6354223"/>
          </a:xfrm>
          <a:custGeom>
            <a:avLst/>
            <a:gdLst/>
            <a:ahLst/>
            <a:cxnLst/>
            <a:rect l="l" t="t" r="r" b="b"/>
            <a:pathLst>
              <a:path w="9172763" h="6354223">
                <a:moveTo>
                  <a:pt x="0" y="0"/>
                </a:moveTo>
                <a:lnTo>
                  <a:pt x="9172763" y="0"/>
                </a:lnTo>
                <a:lnTo>
                  <a:pt x="9172763" y="6354224"/>
                </a:lnTo>
                <a:lnTo>
                  <a:pt x="0" y="63542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327676" y="4896746"/>
            <a:ext cx="493508" cy="49350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904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74430" y="8448202"/>
            <a:ext cx="15139140" cy="758398"/>
            <a:chOff x="0" y="0"/>
            <a:chExt cx="3987263" cy="19974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987263" cy="199743"/>
            </a:xfrm>
            <a:custGeom>
              <a:avLst/>
              <a:gdLst/>
              <a:ahLst/>
              <a:cxnLst/>
              <a:rect l="l" t="t" r="r" b="b"/>
              <a:pathLst>
                <a:path w="3987263" h="199743">
                  <a:moveTo>
                    <a:pt x="26081" y="0"/>
                  </a:moveTo>
                  <a:lnTo>
                    <a:pt x="3961183" y="0"/>
                  </a:lnTo>
                  <a:cubicBezTo>
                    <a:pt x="3975586" y="0"/>
                    <a:pt x="3987263" y="11677"/>
                    <a:pt x="3987263" y="26081"/>
                  </a:cubicBezTo>
                  <a:lnTo>
                    <a:pt x="3987263" y="173662"/>
                  </a:lnTo>
                  <a:cubicBezTo>
                    <a:pt x="3987263" y="180579"/>
                    <a:pt x="3984515" y="187213"/>
                    <a:pt x="3979625" y="192104"/>
                  </a:cubicBezTo>
                  <a:cubicBezTo>
                    <a:pt x="3974733" y="196995"/>
                    <a:pt x="3968100" y="199743"/>
                    <a:pt x="3961183" y="199743"/>
                  </a:cubicBezTo>
                  <a:lnTo>
                    <a:pt x="26081" y="199743"/>
                  </a:lnTo>
                  <a:cubicBezTo>
                    <a:pt x="19164" y="199743"/>
                    <a:pt x="12530" y="196995"/>
                    <a:pt x="7639" y="192104"/>
                  </a:cubicBezTo>
                  <a:cubicBezTo>
                    <a:pt x="2748" y="187213"/>
                    <a:pt x="0" y="180579"/>
                    <a:pt x="0" y="173662"/>
                  </a:cubicBezTo>
                  <a:lnTo>
                    <a:pt x="0" y="26081"/>
                  </a:lnTo>
                  <a:cubicBezTo>
                    <a:pt x="0" y="19164"/>
                    <a:pt x="2748" y="12530"/>
                    <a:pt x="7639" y="7639"/>
                  </a:cubicBezTo>
                  <a:cubicBezTo>
                    <a:pt x="12530" y="2748"/>
                    <a:pt x="19164" y="0"/>
                    <a:pt x="26081" y="0"/>
                  </a:cubicBezTo>
                  <a:close/>
                </a:path>
              </a:pathLst>
            </a:custGeom>
            <a:solidFill>
              <a:srgbClr val="FEFFE9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3987263" cy="228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7803445" y="705971"/>
            <a:ext cx="8561344" cy="8497134"/>
          </a:xfrm>
          <a:custGeom>
            <a:avLst/>
            <a:gdLst/>
            <a:ahLst/>
            <a:cxnLst/>
            <a:rect l="l" t="t" r="r" b="b"/>
            <a:pathLst>
              <a:path w="8561344" h="8497134">
                <a:moveTo>
                  <a:pt x="0" y="0"/>
                </a:moveTo>
                <a:lnTo>
                  <a:pt x="8561344" y="0"/>
                </a:lnTo>
                <a:lnTo>
                  <a:pt x="8561344" y="8497134"/>
                </a:lnTo>
                <a:lnTo>
                  <a:pt x="0" y="84971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912419" y="3618877"/>
            <a:ext cx="8450350" cy="1524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65"/>
              </a:lnSpc>
            </a:pPr>
            <a:r>
              <a:rPr lang="en-US" sz="8975">
                <a:solidFill>
                  <a:srgbClr val="2E2E2E"/>
                </a:solidFill>
                <a:latin typeface="TAN Buster"/>
              </a:rPr>
              <a:t>Game Time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12419" y="4981575"/>
            <a:ext cx="8450350" cy="1459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11760"/>
              </a:lnSpc>
              <a:defRPr sz="8400">
                <a:solidFill>
                  <a:srgbClr val="F4F4F4"/>
                </a:solidFill>
                <a:cs typeface="Opun Bold"/>
              </a:defRPr>
            </a:lvl1pPr>
          </a:lstStyle>
          <a:p>
            <a:r>
              <a:rPr lang="en-US" dirty="0"/>
              <a:t>ทายสโลแกนสินค้า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V="1">
            <a:off x="10050231" y="2115241"/>
            <a:ext cx="9172763" cy="6354223"/>
          </a:xfrm>
          <a:custGeom>
            <a:avLst/>
            <a:gdLst/>
            <a:ahLst/>
            <a:cxnLst/>
            <a:rect l="l" t="t" r="r" b="b"/>
            <a:pathLst>
              <a:path w="9172763" h="6354223">
                <a:moveTo>
                  <a:pt x="0" y="6354224"/>
                </a:moveTo>
                <a:lnTo>
                  <a:pt x="9172763" y="6354224"/>
                </a:lnTo>
                <a:lnTo>
                  <a:pt x="9172763" y="0"/>
                </a:lnTo>
                <a:lnTo>
                  <a:pt x="0" y="0"/>
                </a:lnTo>
                <a:lnTo>
                  <a:pt x="0" y="63542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799605" y="719306"/>
            <a:ext cx="6940389" cy="9147998"/>
            <a:chOff x="0" y="0"/>
            <a:chExt cx="1827921" cy="24093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27922" cy="2409349"/>
            </a:xfrm>
            <a:custGeom>
              <a:avLst/>
              <a:gdLst/>
              <a:ahLst/>
              <a:cxnLst/>
              <a:rect l="l" t="t" r="r" b="b"/>
              <a:pathLst>
                <a:path w="1827922" h="2409349">
                  <a:moveTo>
                    <a:pt x="0" y="0"/>
                  </a:moveTo>
                  <a:lnTo>
                    <a:pt x="1827922" y="0"/>
                  </a:lnTo>
                  <a:lnTo>
                    <a:pt x="1827922" y="2409349"/>
                  </a:lnTo>
                  <a:lnTo>
                    <a:pt x="0" y="2409349"/>
                  </a:lnTo>
                  <a:close/>
                </a:path>
              </a:pathLst>
            </a:custGeom>
            <a:solidFill>
              <a:srgbClr val="F5904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827921" cy="2456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5400000">
            <a:off x="-685826" y="2115241"/>
            <a:ext cx="9172763" cy="6354223"/>
          </a:xfrm>
          <a:custGeom>
            <a:avLst/>
            <a:gdLst/>
            <a:ahLst/>
            <a:cxnLst/>
            <a:rect l="l" t="t" r="r" b="b"/>
            <a:pathLst>
              <a:path w="9172763" h="6354223">
                <a:moveTo>
                  <a:pt x="0" y="0"/>
                </a:moveTo>
                <a:lnTo>
                  <a:pt x="9172763" y="0"/>
                </a:lnTo>
                <a:lnTo>
                  <a:pt x="9172763" y="6354224"/>
                </a:lnTo>
                <a:lnTo>
                  <a:pt x="0" y="6354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 flipV="1">
            <a:off x="9924432" y="1966388"/>
            <a:ext cx="9172763" cy="6354223"/>
          </a:xfrm>
          <a:custGeom>
            <a:avLst/>
            <a:gdLst/>
            <a:ahLst/>
            <a:cxnLst/>
            <a:rect l="l" t="t" r="r" b="b"/>
            <a:pathLst>
              <a:path w="9172763" h="6354223">
                <a:moveTo>
                  <a:pt x="0" y="6354224"/>
                </a:moveTo>
                <a:lnTo>
                  <a:pt x="9172763" y="6354224"/>
                </a:lnTo>
                <a:lnTo>
                  <a:pt x="9172763" y="0"/>
                </a:lnTo>
                <a:lnTo>
                  <a:pt x="0" y="0"/>
                </a:lnTo>
                <a:lnTo>
                  <a:pt x="0" y="635422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673805" y="570453"/>
            <a:ext cx="6940389" cy="9147998"/>
            <a:chOff x="0" y="0"/>
            <a:chExt cx="1827921" cy="240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7922" cy="2409349"/>
            </a:xfrm>
            <a:custGeom>
              <a:avLst/>
              <a:gdLst/>
              <a:ahLst/>
              <a:cxnLst/>
              <a:rect l="l" t="t" r="r" b="b"/>
              <a:pathLst>
                <a:path w="1827922" h="2409349">
                  <a:moveTo>
                    <a:pt x="0" y="0"/>
                  </a:moveTo>
                  <a:lnTo>
                    <a:pt x="1827922" y="0"/>
                  </a:lnTo>
                  <a:lnTo>
                    <a:pt x="1827922" y="2409349"/>
                  </a:lnTo>
                  <a:lnTo>
                    <a:pt x="0" y="2409349"/>
                  </a:lnTo>
                  <a:close/>
                </a:path>
              </a:pathLst>
            </a:custGeom>
            <a:solidFill>
              <a:srgbClr val="3D704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827921" cy="2456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-811626" y="1966388"/>
            <a:ext cx="9172763" cy="6354223"/>
          </a:xfrm>
          <a:custGeom>
            <a:avLst/>
            <a:gdLst/>
            <a:ahLst/>
            <a:cxnLst/>
            <a:rect l="l" t="t" r="r" b="b"/>
            <a:pathLst>
              <a:path w="9172763" h="6354223">
                <a:moveTo>
                  <a:pt x="0" y="0"/>
                </a:moveTo>
                <a:lnTo>
                  <a:pt x="9172763" y="0"/>
                </a:lnTo>
                <a:lnTo>
                  <a:pt x="9172763" y="6354224"/>
                </a:lnTo>
                <a:lnTo>
                  <a:pt x="0" y="63542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140365" y="2139309"/>
            <a:ext cx="7508979" cy="7118991"/>
          </a:xfrm>
          <a:custGeom>
            <a:avLst/>
            <a:gdLst/>
            <a:ahLst/>
            <a:cxnLst/>
            <a:rect l="l" t="t" r="r" b="b"/>
            <a:pathLst>
              <a:path w="7508979" h="7118991">
                <a:moveTo>
                  <a:pt x="0" y="0"/>
                </a:moveTo>
                <a:lnTo>
                  <a:pt x="7508979" y="0"/>
                </a:lnTo>
                <a:lnTo>
                  <a:pt x="7508979" y="7118991"/>
                </a:lnTo>
                <a:lnTo>
                  <a:pt x="0" y="71189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5478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4617563" y="8656269"/>
            <a:ext cx="1462645" cy="313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</a:pPr>
            <a:r>
              <a:rPr lang="en-US" sz="1900">
                <a:solidFill>
                  <a:srgbClr val="3D7049"/>
                </a:solidFill>
                <a:latin typeface="Open Sauce Bold"/>
              </a:rPr>
              <a:t>Page 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94142" y="914400"/>
            <a:ext cx="12654743" cy="1115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59"/>
              </a:lnSpc>
            </a:pPr>
            <a:r>
              <a:rPr lang="en-US" sz="6614">
                <a:solidFill>
                  <a:srgbClr val="F4F4F4"/>
                </a:solidFill>
                <a:latin typeface="Opun Bold"/>
                <a:cs typeface="Opun Bold"/>
              </a:rPr>
              <a:t>1. สินค้าต่อไปนี้มีสโลแกนว่าอย่างไร?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93773" y="4001896"/>
            <a:ext cx="6069239" cy="2919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60"/>
              </a:lnSpc>
            </a:pPr>
            <a:r>
              <a:rPr lang="en-US" sz="8400">
                <a:solidFill>
                  <a:srgbClr val="F4F4F4"/>
                </a:solidFill>
                <a:cs typeface="Opun Bold"/>
              </a:rPr>
              <a:t>คิดจะดื่มน้ำ </a:t>
            </a:r>
          </a:p>
          <a:p>
            <a:pPr algn="ctr">
              <a:lnSpc>
                <a:spcPts val="11760"/>
              </a:lnSpc>
            </a:pPr>
            <a:r>
              <a:rPr lang="en-US" sz="8400">
                <a:solidFill>
                  <a:srgbClr val="F4F4F4"/>
                </a:solidFill>
                <a:cs typeface="Opun Bold"/>
              </a:rPr>
              <a:t>ดื่มคริสตัล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7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V="1">
            <a:off x="10050231" y="2115241"/>
            <a:ext cx="9172763" cy="6354223"/>
          </a:xfrm>
          <a:custGeom>
            <a:avLst/>
            <a:gdLst/>
            <a:ahLst/>
            <a:cxnLst/>
            <a:rect l="l" t="t" r="r" b="b"/>
            <a:pathLst>
              <a:path w="9172763" h="6354223">
                <a:moveTo>
                  <a:pt x="0" y="6354224"/>
                </a:moveTo>
                <a:lnTo>
                  <a:pt x="9172763" y="6354224"/>
                </a:lnTo>
                <a:lnTo>
                  <a:pt x="9172763" y="0"/>
                </a:lnTo>
                <a:lnTo>
                  <a:pt x="0" y="0"/>
                </a:lnTo>
                <a:lnTo>
                  <a:pt x="0" y="63542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799605" y="719306"/>
            <a:ext cx="6940389" cy="9147998"/>
            <a:chOff x="0" y="0"/>
            <a:chExt cx="1827921" cy="24093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27922" cy="2409349"/>
            </a:xfrm>
            <a:custGeom>
              <a:avLst/>
              <a:gdLst/>
              <a:ahLst/>
              <a:cxnLst/>
              <a:rect l="l" t="t" r="r" b="b"/>
              <a:pathLst>
                <a:path w="1827922" h="2409349">
                  <a:moveTo>
                    <a:pt x="0" y="0"/>
                  </a:moveTo>
                  <a:lnTo>
                    <a:pt x="1827922" y="0"/>
                  </a:lnTo>
                  <a:lnTo>
                    <a:pt x="1827922" y="2409349"/>
                  </a:lnTo>
                  <a:lnTo>
                    <a:pt x="0" y="2409349"/>
                  </a:lnTo>
                  <a:close/>
                </a:path>
              </a:pathLst>
            </a:custGeom>
            <a:solidFill>
              <a:srgbClr val="F5904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827921" cy="2456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5400000">
            <a:off x="-685826" y="2115241"/>
            <a:ext cx="9172763" cy="6354223"/>
          </a:xfrm>
          <a:custGeom>
            <a:avLst/>
            <a:gdLst/>
            <a:ahLst/>
            <a:cxnLst/>
            <a:rect l="l" t="t" r="r" b="b"/>
            <a:pathLst>
              <a:path w="9172763" h="6354223">
                <a:moveTo>
                  <a:pt x="0" y="0"/>
                </a:moveTo>
                <a:lnTo>
                  <a:pt x="9172763" y="0"/>
                </a:lnTo>
                <a:lnTo>
                  <a:pt x="9172763" y="6354224"/>
                </a:lnTo>
                <a:lnTo>
                  <a:pt x="0" y="6354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 flipV="1">
            <a:off x="9924432" y="1966388"/>
            <a:ext cx="9172763" cy="6354223"/>
          </a:xfrm>
          <a:custGeom>
            <a:avLst/>
            <a:gdLst/>
            <a:ahLst/>
            <a:cxnLst/>
            <a:rect l="l" t="t" r="r" b="b"/>
            <a:pathLst>
              <a:path w="9172763" h="6354223">
                <a:moveTo>
                  <a:pt x="0" y="6354224"/>
                </a:moveTo>
                <a:lnTo>
                  <a:pt x="9172763" y="6354224"/>
                </a:lnTo>
                <a:lnTo>
                  <a:pt x="9172763" y="0"/>
                </a:lnTo>
                <a:lnTo>
                  <a:pt x="0" y="0"/>
                </a:lnTo>
                <a:lnTo>
                  <a:pt x="0" y="635422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5400000">
            <a:off x="-811626" y="1966388"/>
            <a:ext cx="9172763" cy="6354223"/>
          </a:xfrm>
          <a:custGeom>
            <a:avLst/>
            <a:gdLst/>
            <a:ahLst/>
            <a:cxnLst/>
            <a:rect l="l" t="t" r="r" b="b"/>
            <a:pathLst>
              <a:path w="9172763" h="6354223">
                <a:moveTo>
                  <a:pt x="0" y="0"/>
                </a:moveTo>
                <a:lnTo>
                  <a:pt x="9172763" y="0"/>
                </a:lnTo>
                <a:lnTo>
                  <a:pt x="9172763" y="6354224"/>
                </a:lnTo>
                <a:lnTo>
                  <a:pt x="0" y="63542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5951306" y="569501"/>
            <a:ext cx="6940389" cy="9147998"/>
            <a:chOff x="0" y="0"/>
            <a:chExt cx="1827921" cy="24093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27922" cy="2409349"/>
            </a:xfrm>
            <a:custGeom>
              <a:avLst/>
              <a:gdLst/>
              <a:ahLst/>
              <a:cxnLst/>
              <a:rect l="l" t="t" r="r" b="b"/>
              <a:pathLst>
                <a:path w="1827922" h="2409349">
                  <a:moveTo>
                    <a:pt x="0" y="0"/>
                  </a:moveTo>
                  <a:lnTo>
                    <a:pt x="1827922" y="0"/>
                  </a:lnTo>
                  <a:lnTo>
                    <a:pt x="1827922" y="2409349"/>
                  </a:lnTo>
                  <a:lnTo>
                    <a:pt x="0" y="2409349"/>
                  </a:lnTo>
                  <a:close/>
                </a:path>
              </a:pathLst>
            </a:custGeom>
            <a:solidFill>
              <a:srgbClr val="FEFFE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827921" cy="2456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203774" y="2341997"/>
            <a:ext cx="6627962" cy="6627962"/>
          </a:xfrm>
          <a:custGeom>
            <a:avLst/>
            <a:gdLst/>
            <a:ahLst/>
            <a:cxnLst/>
            <a:rect l="l" t="t" r="r" b="b"/>
            <a:pathLst>
              <a:path w="6627962" h="6627962">
                <a:moveTo>
                  <a:pt x="0" y="0"/>
                </a:moveTo>
                <a:lnTo>
                  <a:pt x="6627961" y="0"/>
                </a:lnTo>
                <a:lnTo>
                  <a:pt x="6627961" y="6627961"/>
                </a:lnTo>
                <a:lnTo>
                  <a:pt x="0" y="66279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4617563" y="8656269"/>
            <a:ext cx="1462645" cy="313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</a:pPr>
            <a:r>
              <a:rPr lang="en-US" sz="1900">
                <a:solidFill>
                  <a:srgbClr val="FFFAD1"/>
                </a:solidFill>
                <a:latin typeface="Open Sauce Bold"/>
              </a:rPr>
              <a:t>Page 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42428" y="945741"/>
            <a:ext cx="12654743" cy="1115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59"/>
              </a:lnSpc>
            </a:pPr>
            <a:r>
              <a:rPr lang="en-US" sz="6614">
                <a:solidFill>
                  <a:srgbClr val="3D7049"/>
                </a:solidFill>
                <a:latin typeface="Opun Bold"/>
                <a:cs typeface="Opun Bold"/>
              </a:rPr>
              <a:t>2. สินค้าต่อไปนี้มีสโลแกนว่าอย่างไร?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05374" y="3751598"/>
            <a:ext cx="6069239" cy="2919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60"/>
              </a:lnSpc>
            </a:pPr>
            <a:r>
              <a:rPr lang="en-US" sz="8400">
                <a:solidFill>
                  <a:srgbClr val="2E2E2E"/>
                </a:solidFill>
                <a:cs typeface="Opun Bold"/>
              </a:rPr>
              <a:t>ไม่มีลิมิต</a:t>
            </a:r>
          </a:p>
          <a:p>
            <a:pPr algn="ctr">
              <a:lnSpc>
                <a:spcPts val="11760"/>
              </a:lnSpc>
            </a:pPr>
            <a:r>
              <a:rPr lang="en-US" sz="8400">
                <a:solidFill>
                  <a:srgbClr val="2E2E2E"/>
                </a:solidFill>
                <a:cs typeface="Opun Bold"/>
              </a:rPr>
              <a:t>ชีวิตเกินร้อย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V="1">
            <a:off x="10050231" y="2115241"/>
            <a:ext cx="9172763" cy="6354223"/>
          </a:xfrm>
          <a:custGeom>
            <a:avLst/>
            <a:gdLst/>
            <a:ahLst/>
            <a:cxnLst/>
            <a:rect l="l" t="t" r="r" b="b"/>
            <a:pathLst>
              <a:path w="9172763" h="6354223">
                <a:moveTo>
                  <a:pt x="0" y="6354224"/>
                </a:moveTo>
                <a:lnTo>
                  <a:pt x="9172763" y="6354224"/>
                </a:lnTo>
                <a:lnTo>
                  <a:pt x="9172763" y="0"/>
                </a:lnTo>
                <a:lnTo>
                  <a:pt x="0" y="0"/>
                </a:lnTo>
                <a:lnTo>
                  <a:pt x="0" y="63542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799605" y="719306"/>
            <a:ext cx="6940389" cy="9147998"/>
            <a:chOff x="0" y="0"/>
            <a:chExt cx="1827921" cy="24093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27922" cy="2409349"/>
            </a:xfrm>
            <a:custGeom>
              <a:avLst/>
              <a:gdLst/>
              <a:ahLst/>
              <a:cxnLst/>
              <a:rect l="l" t="t" r="r" b="b"/>
              <a:pathLst>
                <a:path w="1827922" h="2409349">
                  <a:moveTo>
                    <a:pt x="0" y="0"/>
                  </a:moveTo>
                  <a:lnTo>
                    <a:pt x="1827922" y="0"/>
                  </a:lnTo>
                  <a:lnTo>
                    <a:pt x="1827922" y="2409349"/>
                  </a:lnTo>
                  <a:lnTo>
                    <a:pt x="0" y="2409349"/>
                  </a:lnTo>
                  <a:close/>
                </a:path>
              </a:pathLst>
            </a:custGeom>
            <a:solidFill>
              <a:srgbClr val="F5904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827921" cy="2456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5400000">
            <a:off x="-685826" y="2115241"/>
            <a:ext cx="9172763" cy="6354223"/>
          </a:xfrm>
          <a:custGeom>
            <a:avLst/>
            <a:gdLst/>
            <a:ahLst/>
            <a:cxnLst/>
            <a:rect l="l" t="t" r="r" b="b"/>
            <a:pathLst>
              <a:path w="9172763" h="6354223">
                <a:moveTo>
                  <a:pt x="0" y="0"/>
                </a:moveTo>
                <a:lnTo>
                  <a:pt x="9172763" y="0"/>
                </a:lnTo>
                <a:lnTo>
                  <a:pt x="9172763" y="6354224"/>
                </a:lnTo>
                <a:lnTo>
                  <a:pt x="0" y="6354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 flipV="1">
            <a:off x="9924432" y="1966388"/>
            <a:ext cx="9172763" cy="6354223"/>
          </a:xfrm>
          <a:custGeom>
            <a:avLst/>
            <a:gdLst/>
            <a:ahLst/>
            <a:cxnLst/>
            <a:rect l="l" t="t" r="r" b="b"/>
            <a:pathLst>
              <a:path w="9172763" h="6354223">
                <a:moveTo>
                  <a:pt x="0" y="6354224"/>
                </a:moveTo>
                <a:lnTo>
                  <a:pt x="9172763" y="6354224"/>
                </a:lnTo>
                <a:lnTo>
                  <a:pt x="9172763" y="0"/>
                </a:lnTo>
                <a:lnTo>
                  <a:pt x="0" y="0"/>
                </a:lnTo>
                <a:lnTo>
                  <a:pt x="0" y="635422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673805" y="570453"/>
            <a:ext cx="6940389" cy="9147998"/>
            <a:chOff x="0" y="0"/>
            <a:chExt cx="1827921" cy="240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7922" cy="2409349"/>
            </a:xfrm>
            <a:custGeom>
              <a:avLst/>
              <a:gdLst/>
              <a:ahLst/>
              <a:cxnLst/>
              <a:rect l="l" t="t" r="r" b="b"/>
              <a:pathLst>
                <a:path w="1827922" h="2409349">
                  <a:moveTo>
                    <a:pt x="0" y="0"/>
                  </a:moveTo>
                  <a:lnTo>
                    <a:pt x="1827922" y="0"/>
                  </a:lnTo>
                  <a:lnTo>
                    <a:pt x="1827922" y="2409349"/>
                  </a:lnTo>
                  <a:lnTo>
                    <a:pt x="0" y="2409349"/>
                  </a:lnTo>
                  <a:close/>
                </a:path>
              </a:pathLst>
            </a:custGeom>
            <a:solidFill>
              <a:srgbClr val="3D704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827921" cy="2456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-811626" y="1966388"/>
            <a:ext cx="9172763" cy="6354223"/>
          </a:xfrm>
          <a:custGeom>
            <a:avLst/>
            <a:gdLst/>
            <a:ahLst/>
            <a:cxnLst/>
            <a:rect l="l" t="t" r="r" b="b"/>
            <a:pathLst>
              <a:path w="9172763" h="6354223">
                <a:moveTo>
                  <a:pt x="0" y="0"/>
                </a:moveTo>
                <a:lnTo>
                  <a:pt x="9172763" y="0"/>
                </a:lnTo>
                <a:lnTo>
                  <a:pt x="9172763" y="6354224"/>
                </a:lnTo>
                <a:lnTo>
                  <a:pt x="0" y="63542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195287" y="2467559"/>
            <a:ext cx="6452751" cy="6452751"/>
          </a:xfrm>
          <a:custGeom>
            <a:avLst/>
            <a:gdLst/>
            <a:ahLst/>
            <a:cxnLst/>
            <a:rect l="l" t="t" r="r" b="b"/>
            <a:pathLst>
              <a:path w="6452751" h="6452751">
                <a:moveTo>
                  <a:pt x="0" y="0"/>
                </a:moveTo>
                <a:lnTo>
                  <a:pt x="6452751" y="0"/>
                </a:lnTo>
                <a:lnTo>
                  <a:pt x="6452751" y="6452751"/>
                </a:lnTo>
                <a:lnTo>
                  <a:pt x="0" y="64527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942428" y="1003082"/>
            <a:ext cx="12654743" cy="1115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59"/>
              </a:lnSpc>
            </a:pPr>
            <a:r>
              <a:rPr lang="en-US" sz="6614">
                <a:solidFill>
                  <a:srgbClr val="FFFFFF"/>
                </a:solidFill>
                <a:latin typeface="Opun Bold"/>
                <a:cs typeface="Opun Bold"/>
              </a:rPr>
              <a:t>3. สินค้าต่อไปนี้มีสโลแกนว่าอย่างไร?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39198" y="4008358"/>
            <a:ext cx="6664777" cy="3199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14"/>
              </a:lnSpc>
            </a:pPr>
            <a:r>
              <a:rPr lang="en-US" sz="9224">
                <a:solidFill>
                  <a:srgbClr val="FFFFFF"/>
                </a:solidFill>
                <a:cs typeface="Opun Bold"/>
              </a:rPr>
              <a:t>บิด ชิมครีม จุ่มนม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7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V="1">
            <a:off x="10050231" y="2115241"/>
            <a:ext cx="9172763" cy="6354223"/>
          </a:xfrm>
          <a:custGeom>
            <a:avLst/>
            <a:gdLst/>
            <a:ahLst/>
            <a:cxnLst/>
            <a:rect l="l" t="t" r="r" b="b"/>
            <a:pathLst>
              <a:path w="9172763" h="6354223">
                <a:moveTo>
                  <a:pt x="0" y="6354224"/>
                </a:moveTo>
                <a:lnTo>
                  <a:pt x="9172763" y="6354224"/>
                </a:lnTo>
                <a:lnTo>
                  <a:pt x="9172763" y="0"/>
                </a:lnTo>
                <a:lnTo>
                  <a:pt x="0" y="0"/>
                </a:lnTo>
                <a:lnTo>
                  <a:pt x="0" y="63542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799605" y="719306"/>
            <a:ext cx="6940389" cy="9147998"/>
            <a:chOff x="0" y="0"/>
            <a:chExt cx="1827921" cy="24093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27922" cy="2409349"/>
            </a:xfrm>
            <a:custGeom>
              <a:avLst/>
              <a:gdLst/>
              <a:ahLst/>
              <a:cxnLst/>
              <a:rect l="l" t="t" r="r" b="b"/>
              <a:pathLst>
                <a:path w="1827922" h="2409349">
                  <a:moveTo>
                    <a:pt x="0" y="0"/>
                  </a:moveTo>
                  <a:lnTo>
                    <a:pt x="1827922" y="0"/>
                  </a:lnTo>
                  <a:lnTo>
                    <a:pt x="1827922" y="2409349"/>
                  </a:lnTo>
                  <a:lnTo>
                    <a:pt x="0" y="2409349"/>
                  </a:lnTo>
                  <a:close/>
                </a:path>
              </a:pathLst>
            </a:custGeom>
            <a:solidFill>
              <a:srgbClr val="F5904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827921" cy="2456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5400000">
            <a:off x="-685826" y="2115241"/>
            <a:ext cx="9172763" cy="6354223"/>
          </a:xfrm>
          <a:custGeom>
            <a:avLst/>
            <a:gdLst/>
            <a:ahLst/>
            <a:cxnLst/>
            <a:rect l="l" t="t" r="r" b="b"/>
            <a:pathLst>
              <a:path w="9172763" h="6354223">
                <a:moveTo>
                  <a:pt x="0" y="0"/>
                </a:moveTo>
                <a:lnTo>
                  <a:pt x="9172763" y="0"/>
                </a:lnTo>
                <a:lnTo>
                  <a:pt x="9172763" y="6354224"/>
                </a:lnTo>
                <a:lnTo>
                  <a:pt x="0" y="6354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 flipV="1">
            <a:off x="9924432" y="1966388"/>
            <a:ext cx="9172763" cy="6354223"/>
          </a:xfrm>
          <a:custGeom>
            <a:avLst/>
            <a:gdLst/>
            <a:ahLst/>
            <a:cxnLst/>
            <a:rect l="l" t="t" r="r" b="b"/>
            <a:pathLst>
              <a:path w="9172763" h="6354223">
                <a:moveTo>
                  <a:pt x="0" y="6354224"/>
                </a:moveTo>
                <a:lnTo>
                  <a:pt x="9172763" y="6354224"/>
                </a:lnTo>
                <a:lnTo>
                  <a:pt x="9172763" y="0"/>
                </a:lnTo>
                <a:lnTo>
                  <a:pt x="0" y="0"/>
                </a:lnTo>
                <a:lnTo>
                  <a:pt x="0" y="635422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664872" y="569501"/>
            <a:ext cx="6940389" cy="9147998"/>
            <a:chOff x="0" y="0"/>
            <a:chExt cx="1827921" cy="240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7922" cy="2409349"/>
            </a:xfrm>
            <a:custGeom>
              <a:avLst/>
              <a:gdLst/>
              <a:ahLst/>
              <a:cxnLst/>
              <a:rect l="l" t="t" r="r" b="b"/>
              <a:pathLst>
                <a:path w="1827922" h="2409349">
                  <a:moveTo>
                    <a:pt x="0" y="0"/>
                  </a:moveTo>
                  <a:lnTo>
                    <a:pt x="1827922" y="0"/>
                  </a:lnTo>
                  <a:lnTo>
                    <a:pt x="1827922" y="2409349"/>
                  </a:lnTo>
                  <a:lnTo>
                    <a:pt x="0" y="2409349"/>
                  </a:lnTo>
                  <a:close/>
                </a:path>
              </a:pathLst>
            </a:custGeom>
            <a:solidFill>
              <a:srgbClr val="FEFFE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827921" cy="2456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-811626" y="1966388"/>
            <a:ext cx="9172763" cy="6354223"/>
          </a:xfrm>
          <a:custGeom>
            <a:avLst/>
            <a:gdLst/>
            <a:ahLst/>
            <a:cxnLst/>
            <a:rect l="l" t="t" r="r" b="b"/>
            <a:pathLst>
              <a:path w="9172763" h="6354223">
                <a:moveTo>
                  <a:pt x="0" y="0"/>
                </a:moveTo>
                <a:lnTo>
                  <a:pt x="9172763" y="0"/>
                </a:lnTo>
                <a:lnTo>
                  <a:pt x="9172763" y="6354224"/>
                </a:lnTo>
                <a:lnTo>
                  <a:pt x="0" y="63542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980496" y="2591188"/>
            <a:ext cx="6522305" cy="5994660"/>
          </a:xfrm>
          <a:custGeom>
            <a:avLst/>
            <a:gdLst/>
            <a:ahLst/>
            <a:cxnLst/>
            <a:rect l="l" t="t" r="r" b="b"/>
            <a:pathLst>
              <a:path w="6522305" h="5994660">
                <a:moveTo>
                  <a:pt x="0" y="0"/>
                </a:moveTo>
                <a:lnTo>
                  <a:pt x="6522304" y="0"/>
                </a:lnTo>
                <a:lnTo>
                  <a:pt x="6522304" y="5994660"/>
                </a:lnTo>
                <a:lnTo>
                  <a:pt x="0" y="59946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1027" r="-42792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942428" y="1008424"/>
            <a:ext cx="12654743" cy="1115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59"/>
              </a:lnSpc>
            </a:pPr>
            <a:r>
              <a:rPr lang="en-US" sz="6614">
                <a:solidFill>
                  <a:srgbClr val="3D7049"/>
                </a:solidFill>
                <a:latin typeface="Opun Bold"/>
                <a:cs typeface="Opun Bold"/>
              </a:rPr>
              <a:t>4. สินค้าต่อไปนี้มีสโลแกนว่าอย่างไร?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69799" y="4388566"/>
            <a:ext cx="7525309" cy="2285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59"/>
              </a:lnSpc>
            </a:pPr>
            <a:r>
              <a:rPr lang="en-US" sz="6614">
                <a:solidFill>
                  <a:srgbClr val="2E2E2E"/>
                </a:solidFill>
                <a:cs typeface="Opun Bold"/>
              </a:rPr>
              <a:t>ตัวจริง อร่อยจริง เรื่องปิ้งย่าง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V="1">
            <a:off x="10050231" y="2115241"/>
            <a:ext cx="9172763" cy="6354223"/>
          </a:xfrm>
          <a:custGeom>
            <a:avLst/>
            <a:gdLst/>
            <a:ahLst/>
            <a:cxnLst/>
            <a:rect l="l" t="t" r="r" b="b"/>
            <a:pathLst>
              <a:path w="9172763" h="6354223">
                <a:moveTo>
                  <a:pt x="0" y="6354224"/>
                </a:moveTo>
                <a:lnTo>
                  <a:pt x="9172763" y="6354224"/>
                </a:lnTo>
                <a:lnTo>
                  <a:pt x="9172763" y="0"/>
                </a:lnTo>
                <a:lnTo>
                  <a:pt x="0" y="0"/>
                </a:lnTo>
                <a:lnTo>
                  <a:pt x="0" y="63542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799605" y="719306"/>
            <a:ext cx="6940389" cy="9147998"/>
            <a:chOff x="0" y="0"/>
            <a:chExt cx="1827921" cy="24093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27922" cy="2409349"/>
            </a:xfrm>
            <a:custGeom>
              <a:avLst/>
              <a:gdLst/>
              <a:ahLst/>
              <a:cxnLst/>
              <a:rect l="l" t="t" r="r" b="b"/>
              <a:pathLst>
                <a:path w="1827922" h="2409349">
                  <a:moveTo>
                    <a:pt x="0" y="0"/>
                  </a:moveTo>
                  <a:lnTo>
                    <a:pt x="1827922" y="0"/>
                  </a:lnTo>
                  <a:lnTo>
                    <a:pt x="1827922" y="2409349"/>
                  </a:lnTo>
                  <a:lnTo>
                    <a:pt x="0" y="2409349"/>
                  </a:lnTo>
                  <a:close/>
                </a:path>
              </a:pathLst>
            </a:custGeom>
            <a:solidFill>
              <a:srgbClr val="F5904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827921" cy="2456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5400000">
            <a:off x="-685826" y="2115241"/>
            <a:ext cx="9172763" cy="6354223"/>
          </a:xfrm>
          <a:custGeom>
            <a:avLst/>
            <a:gdLst/>
            <a:ahLst/>
            <a:cxnLst/>
            <a:rect l="l" t="t" r="r" b="b"/>
            <a:pathLst>
              <a:path w="9172763" h="6354223">
                <a:moveTo>
                  <a:pt x="0" y="0"/>
                </a:moveTo>
                <a:lnTo>
                  <a:pt x="9172763" y="0"/>
                </a:lnTo>
                <a:lnTo>
                  <a:pt x="9172763" y="6354224"/>
                </a:lnTo>
                <a:lnTo>
                  <a:pt x="0" y="6354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 flipV="1">
            <a:off x="9924432" y="1966388"/>
            <a:ext cx="9172763" cy="6354223"/>
          </a:xfrm>
          <a:custGeom>
            <a:avLst/>
            <a:gdLst/>
            <a:ahLst/>
            <a:cxnLst/>
            <a:rect l="l" t="t" r="r" b="b"/>
            <a:pathLst>
              <a:path w="9172763" h="6354223">
                <a:moveTo>
                  <a:pt x="0" y="6354224"/>
                </a:moveTo>
                <a:lnTo>
                  <a:pt x="9172763" y="6354224"/>
                </a:lnTo>
                <a:lnTo>
                  <a:pt x="9172763" y="0"/>
                </a:lnTo>
                <a:lnTo>
                  <a:pt x="0" y="0"/>
                </a:lnTo>
                <a:lnTo>
                  <a:pt x="0" y="635422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673805" y="570453"/>
            <a:ext cx="6940389" cy="9147998"/>
            <a:chOff x="0" y="0"/>
            <a:chExt cx="1827921" cy="240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7922" cy="2409349"/>
            </a:xfrm>
            <a:custGeom>
              <a:avLst/>
              <a:gdLst/>
              <a:ahLst/>
              <a:cxnLst/>
              <a:rect l="l" t="t" r="r" b="b"/>
              <a:pathLst>
                <a:path w="1827922" h="2409349">
                  <a:moveTo>
                    <a:pt x="0" y="0"/>
                  </a:moveTo>
                  <a:lnTo>
                    <a:pt x="1827922" y="0"/>
                  </a:lnTo>
                  <a:lnTo>
                    <a:pt x="1827922" y="2409349"/>
                  </a:lnTo>
                  <a:lnTo>
                    <a:pt x="0" y="2409349"/>
                  </a:lnTo>
                  <a:close/>
                </a:path>
              </a:pathLst>
            </a:custGeom>
            <a:solidFill>
              <a:srgbClr val="3D704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827921" cy="2456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-811626" y="1966388"/>
            <a:ext cx="9172763" cy="6354223"/>
          </a:xfrm>
          <a:custGeom>
            <a:avLst/>
            <a:gdLst/>
            <a:ahLst/>
            <a:cxnLst/>
            <a:rect l="l" t="t" r="r" b="b"/>
            <a:pathLst>
              <a:path w="9172763" h="6354223">
                <a:moveTo>
                  <a:pt x="0" y="0"/>
                </a:moveTo>
                <a:lnTo>
                  <a:pt x="9172763" y="0"/>
                </a:lnTo>
                <a:lnTo>
                  <a:pt x="9172763" y="6354224"/>
                </a:lnTo>
                <a:lnTo>
                  <a:pt x="0" y="63542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178191" y="2331373"/>
            <a:ext cx="6651842" cy="6651842"/>
          </a:xfrm>
          <a:custGeom>
            <a:avLst/>
            <a:gdLst/>
            <a:ahLst/>
            <a:cxnLst/>
            <a:rect l="l" t="t" r="r" b="b"/>
            <a:pathLst>
              <a:path w="6651842" h="6651842">
                <a:moveTo>
                  <a:pt x="0" y="0"/>
                </a:moveTo>
                <a:lnTo>
                  <a:pt x="6651842" y="0"/>
                </a:lnTo>
                <a:lnTo>
                  <a:pt x="6651842" y="6651842"/>
                </a:lnTo>
                <a:lnTo>
                  <a:pt x="0" y="66518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942428" y="909769"/>
            <a:ext cx="12654743" cy="1115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59"/>
              </a:lnSpc>
            </a:pPr>
            <a:r>
              <a:rPr lang="en-US" sz="6614">
                <a:solidFill>
                  <a:srgbClr val="FFFFFF"/>
                </a:solidFill>
                <a:latin typeface="Opun Bold"/>
                <a:cs typeface="Opun Bold"/>
              </a:rPr>
              <a:t>5. สินค้าต่อไปนี้มีสโลแกนว่าอย่างไร?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07444" y="3751944"/>
            <a:ext cx="8013501" cy="361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45"/>
              </a:lnSpc>
            </a:pPr>
            <a:r>
              <a:rPr lang="en-US" sz="10389">
                <a:solidFill>
                  <a:srgbClr val="FFFFFF"/>
                </a:solidFill>
                <a:cs typeface="Opun Bold"/>
              </a:rPr>
              <a:t>ไม่เข้มข้น</a:t>
            </a:r>
          </a:p>
          <a:p>
            <a:pPr algn="ctr">
              <a:lnSpc>
                <a:spcPts val="14545"/>
              </a:lnSpc>
            </a:pPr>
            <a:r>
              <a:rPr lang="en-US" sz="10389">
                <a:solidFill>
                  <a:srgbClr val="FFFFFF"/>
                </a:solidFill>
                <a:latin typeface="Opun Bold"/>
                <a:cs typeface="Opun Bold"/>
              </a:rPr>
              <a:t> เราไม่นอน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7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V="1">
            <a:off x="10050231" y="2115241"/>
            <a:ext cx="9172763" cy="6354223"/>
          </a:xfrm>
          <a:custGeom>
            <a:avLst/>
            <a:gdLst/>
            <a:ahLst/>
            <a:cxnLst/>
            <a:rect l="l" t="t" r="r" b="b"/>
            <a:pathLst>
              <a:path w="9172763" h="6354223">
                <a:moveTo>
                  <a:pt x="0" y="6354224"/>
                </a:moveTo>
                <a:lnTo>
                  <a:pt x="9172763" y="6354224"/>
                </a:lnTo>
                <a:lnTo>
                  <a:pt x="9172763" y="0"/>
                </a:lnTo>
                <a:lnTo>
                  <a:pt x="0" y="0"/>
                </a:lnTo>
                <a:lnTo>
                  <a:pt x="0" y="63542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799605" y="719306"/>
            <a:ext cx="6940389" cy="9147998"/>
            <a:chOff x="0" y="0"/>
            <a:chExt cx="1827921" cy="24093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27922" cy="2409349"/>
            </a:xfrm>
            <a:custGeom>
              <a:avLst/>
              <a:gdLst/>
              <a:ahLst/>
              <a:cxnLst/>
              <a:rect l="l" t="t" r="r" b="b"/>
              <a:pathLst>
                <a:path w="1827922" h="2409349">
                  <a:moveTo>
                    <a:pt x="0" y="0"/>
                  </a:moveTo>
                  <a:lnTo>
                    <a:pt x="1827922" y="0"/>
                  </a:lnTo>
                  <a:lnTo>
                    <a:pt x="1827922" y="2409349"/>
                  </a:lnTo>
                  <a:lnTo>
                    <a:pt x="0" y="2409349"/>
                  </a:lnTo>
                  <a:close/>
                </a:path>
              </a:pathLst>
            </a:custGeom>
            <a:solidFill>
              <a:srgbClr val="F5904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827921" cy="2456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5400000">
            <a:off x="-685826" y="2115241"/>
            <a:ext cx="9172763" cy="6354223"/>
          </a:xfrm>
          <a:custGeom>
            <a:avLst/>
            <a:gdLst/>
            <a:ahLst/>
            <a:cxnLst/>
            <a:rect l="l" t="t" r="r" b="b"/>
            <a:pathLst>
              <a:path w="9172763" h="6354223">
                <a:moveTo>
                  <a:pt x="0" y="0"/>
                </a:moveTo>
                <a:lnTo>
                  <a:pt x="9172763" y="0"/>
                </a:lnTo>
                <a:lnTo>
                  <a:pt x="9172763" y="6354224"/>
                </a:lnTo>
                <a:lnTo>
                  <a:pt x="0" y="6354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23443" y="624638"/>
            <a:ext cx="16964482" cy="9105244"/>
            <a:chOff x="0" y="0"/>
            <a:chExt cx="22619309" cy="12140325"/>
          </a:xfrm>
        </p:grpSpPr>
        <p:sp>
          <p:nvSpPr>
            <p:cNvPr id="8" name="Freeform 8"/>
            <p:cNvSpPr/>
            <p:nvPr/>
          </p:nvSpPr>
          <p:spPr>
            <a:xfrm rot="5400000" flipV="1">
              <a:off x="12344179" y="1865195"/>
              <a:ext cx="12140325" cy="8409934"/>
            </a:xfrm>
            <a:custGeom>
              <a:avLst/>
              <a:gdLst/>
              <a:ahLst/>
              <a:cxnLst/>
              <a:rect l="l" t="t" r="r" b="b"/>
              <a:pathLst>
                <a:path w="12140325" h="8409934">
                  <a:moveTo>
                    <a:pt x="0" y="8409934"/>
                  </a:moveTo>
                  <a:lnTo>
                    <a:pt x="12140325" y="8409934"/>
                  </a:lnTo>
                  <a:lnTo>
                    <a:pt x="12140325" y="0"/>
                  </a:lnTo>
                  <a:lnTo>
                    <a:pt x="0" y="0"/>
                  </a:lnTo>
                  <a:lnTo>
                    <a:pt x="0" y="8409934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5400000">
              <a:off x="-1865195" y="1865195"/>
              <a:ext cx="12140325" cy="8409934"/>
            </a:xfrm>
            <a:custGeom>
              <a:avLst/>
              <a:gdLst/>
              <a:ahLst/>
              <a:cxnLst/>
              <a:rect l="l" t="t" r="r" b="b"/>
              <a:pathLst>
                <a:path w="12140325" h="8409934">
                  <a:moveTo>
                    <a:pt x="0" y="0"/>
                  </a:moveTo>
                  <a:lnTo>
                    <a:pt x="12140324" y="0"/>
                  </a:lnTo>
                  <a:lnTo>
                    <a:pt x="12140324" y="8409934"/>
                  </a:lnTo>
                  <a:lnTo>
                    <a:pt x="0" y="84099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0" name="Group 10"/>
            <p:cNvGrpSpPr/>
            <p:nvPr/>
          </p:nvGrpSpPr>
          <p:grpSpPr>
            <a:xfrm>
              <a:off x="7085672" y="16388"/>
              <a:ext cx="9185736" cy="12107548"/>
              <a:chOff x="0" y="0"/>
              <a:chExt cx="1827921" cy="240934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827922" cy="2409349"/>
              </a:xfrm>
              <a:custGeom>
                <a:avLst/>
                <a:gdLst/>
                <a:ahLst/>
                <a:cxnLst/>
                <a:rect l="l" t="t" r="r" b="b"/>
                <a:pathLst>
                  <a:path w="1827922" h="2409349">
                    <a:moveTo>
                      <a:pt x="0" y="0"/>
                    </a:moveTo>
                    <a:lnTo>
                      <a:pt x="1827922" y="0"/>
                    </a:lnTo>
                    <a:lnTo>
                      <a:pt x="1827922" y="2409349"/>
                    </a:lnTo>
                    <a:lnTo>
                      <a:pt x="0" y="2409349"/>
                    </a:lnTo>
                    <a:close/>
                  </a:path>
                </a:pathLst>
              </a:custGeom>
              <a:solidFill>
                <a:srgbClr val="FEFFE9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1827921" cy="24569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00"/>
                  </a:lnSpc>
                </a:pPr>
                <a:endParaRPr/>
              </a:p>
            </p:txBody>
          </p:sp>
        </p:grpSp>
      </p:grpSp>
      <p:grpSp>
        <p:nvGrpSpPr>
          <p:cNvPr id="13" name="Group 13"/>
          <p:cNvGrpSpPr/>
          <p:nvPr/>
        </p:nvGrpSpPr>
        <p:grpSpPr>
          <a:xfrm>
            <a:off x="1183055" y="1286506"/>
            <a:ext cx="1790223" cy="695799"/>
            <a:chOff x="0" y="0"/>
            <a:chExt cx="471499" cy="18325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71499" cy="183256"/>
            </a:xfrm>
            <a:custGeom>
              <a:avLst/>
              <a:gdLst/>
              <a:ahLst/>
              <a:cxnLst/>
              <a:rect l="l" t="t" r="r" b="b"/>
              <a:pathLst>
                <a:path w="471499" h="183256">
                  <a:moveTo>
                    <a:pt x="91628" y="0"/>
                  </a:moveTo>
                  <a:lnTo>
                    <a:pt x="379871" y="0"/>
                  </a:lnTo>
                  <a:cubicBezTo>
                    <a:pt x="430476" y="0"/>
                    <a:pt x="471499" y="41023"/>
                    <a:pt x="471499" y="91628"/>
                  </a:cubicBezTo>
                  <a:lnTo>
                    <a:pt x="471499" y="91628"/>
                  </a:lnTo>
                  <a:cubicBezTo>
                    <a:pt x="471499" y="115929"/>
                    <a:pt x="461846" y="139235"/>
                    <a:pt x="444662" y="156418"/>
                  </a:cubicBezTo>
                  <a:cubicBezTo>
                    <a:pt x="427478" y="173602"/>
                    <a:pt x="404173" y="183256"/>
                    <a:pt x="379871" y="183256"/>
                  </a:cubicBezTo>
                  <a:lnTo>
                    <a:pt x="91628" y="183256"/>
                  </a:lnTo>
                  <a:cubicBezTo>
                    <a:pt x="67327" y="183256"/>
                    <a:pt x="44021" y="173602"/>
                    <a:pt x="26837" y="156418"/>
                  </a:cubicBezTo>
                  <a:cubicBezTo>
                    <a:pt x="9654" y="139235"/>
                    <a:pt x="0" y="115929"/>
                    <a:pt x="0" y="91628"/>
                  </a:cubicBezTo>
                  <a:lnTo>
                    <a:pt x="0" y="91628"/>
                  </a:lnTo>
                  <a:cubicBezTo>
                    <a:pt x="0" y="67327"/>
                    <a:pt x="9654" y="44021"/>
                    <a:pt x="26837" y="26837"/>
                  </a:cubicBezTo>
                  <a:cubicBezTo>
                    <a:pt x="44021" y="9654"/>
                    <a:pt x="67327" y="0"/>
                    <a:pt x="91628" y="0"/>
                  </a:cubicBezTo>
                  <a:close/>
                </a:path>
              </a:pathLst>
            </a:custGeom>
            <a:solidFill>
              <a:srgbClr val="3D7049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471499" cy="2118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5316968" y="6492"/>
            <a:ext cx="1760699" cy="1627913"/>
          </a:xfrm>
          <a:custGeom>
            <a:avLst/>
            <a:gdLst/>
            <a:ahLst/>
            <a:cxnLst/>
            <a:rect l="l" t="t" r="r" b="b"/>
            <a:pathLst>
              <a:path w="1760699" h="1627913">
                <a:moveTo>
                  <a:pt x="0" y="0"/>
                </a:moveTo>
                <a:lnTo>
                  <a:pt x="1760699" y="0"/>
                </a:lnTo>
                <a:lnTo>
                  <a:pt x="1760699" y="1627913"/>
                </a:lnTo>
                <a:lnTo>
                  <a:pt x="0" y="16279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611073" y="-179801"/>
            <a:ext cx="5188532" cy="1692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94"/>
              </a:lnSpc>
            </a:pPr>
            <a:r>
              <a:rPr lang="en-US" sz="9424" b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Opun Bold"/>
              </a:rPr>
              <a:t>CREATE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701427" y="876300"/>
            <a:ext cx="4376240" cy="1423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28"/>
              </a:lnSpc>
            </a:pPr>
            <a:r>
              <a:rPr lang="en-US" sz="7949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cs typeface="Opun Bold"/>
              </a:rPr>
              <a:t>สโลแกน</a:t>
            </a:r>
            <a:endParaRPr lang="en-US" sz="7949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cs typeface="Opun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5195563" y="9236594"/>
            <a:ext cx="2856827" cy="1074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91"/>
              </a:lnSpc>
            </a:pPr>
            <a:r>
              <a:rPr lang="en-US" sz="5189" b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Opun Bold"/>
              </a:rPr>
              <a:t>GROUP </a:t>
            </a:r>
          </a:p>
          <a:p>
            <a:pPr algn="ctr">
              <a:lnSpc>
                <a:spcPts val="3891"/>
              </a:lnSpc>
            </a:pPr>
            <a:r>
              <a:rPr lang="en-US" sz="5189" b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Opun Bold"/>
              </a:rPr>
              <a:t>      WORK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1017" y="2747938"/>
            <a:ext cx="16869335" cy="2406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5130" lvl="1" indent="-517565" algn="l">
              <a:lnSpc>
                <a:spcPts val="9876"/>
              </a:lnSpc>
              <a:buFont typeface="Arial"/>
              <a:buChar char="•"/>
            </a:pPr>
            <a:r>
              <a:rPr lang="en-US" sz="4794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Opun Bold"/>
              </a:rPr>
              <a:t>หา</a:t>
            </a:r>
            <a:r>
              <a:rPr lang="en-US" sz="4794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Opun Bold"/>
              </a:rPr>
              <a:t>สินค้าที่มีอยู่</a:t>
            </a:r>
            <a:r>
              <a:rPr lang="en-US" sz="4794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Opun Bold"/>
              </a:rPr>
              <a:t> </a:t>
            </a:r>
            <a:r>
              <a:rPr lang="en-US" sz="4794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Opun Bold"/>
              </a:rPr>
              <a:t>หรือ</a:t>
            </a:r>
            <a:r>
              <a:rPr lang="en-US" sz="4794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Opun Bold"/>
              </a:rPr>
              <a:t> </a:t>
            </a:r>
            <a:r>
              <a:rPr lang="en-US" sz="4794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Opun Bold"/>
              </a:rPr>
              <a:t>คิดขึ้นเอง</a:t>
            </a:r>
            <a:r>
              <a:rPr lang="en-US" sz="4794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Opun Bold"/>
              </a:rPr>
              <a:t> </a:t>
            </a:r>
            <a:r>
              <a:rPr lang="en-US" sz="4794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Opun Bold"/>
              </a:rPr>
              <a:t>เพื่อนำมาสร้างสรรค์สโลแกนใหม่</a:t>
            </a:r>
            <a:endParaRPr lang="en-US" sz="4794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Opun Bold"/>
            </a:endParaRPr>
          </a:p>
          <a:p>
            <a:pPr marL="1035130" lvl="1" indent="-517565" algn="l">
              <a:lnSpc>
                <a:spcPts val="9876"/>
              </a:lnSpc>
              <a:buFont typeface="Arial"/>
              <a:buChar char="•"/>
            </a:pPr>
            <a:r>
              <a:rPr lang="en-US" sz="4794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un Bold"/>
                <a:cs typeface="Opun Bold"/>
              </a:rPr>
              <a:t>ใส่</a:t>
            </a:r>
            <a:r>
              <a:rPr lang="en-US" sz="4794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un Bold"/>
                <a:cs typeface="Opun Bold"/>
              </a:rPr>
              <a:t> Infographic </a:t>
            </a:r>
            <a:r>
              <a:rPr lang="en-US" sz="4794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un Bold"/>
                <a:cs typeface="Opun Bold"/>
              </a:rPr>
              <a:t>แล้วนำส่งใน</a:t>
            </a:r>
            <a:r>
              <a:rPr lang="en-US" sz="4794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un Bold"/>
                <a:cs typeface="Opun Bold"/>
              </a:rPr>
              <a:t> </a:t>
            </a:r>
            <a:r>
              <a:rPr lang="en-US" sz="4794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un Bold"/>
                <a:cs typeface="Opun Bold"/>
              </a:rPr>
              <a:t>Padlet</a:t>
            </a:r>
            <a:endParaRPr lang="en-US" sz="4794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un Bold"/>
              <a:cs typeface="Opun 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V="1">
            <a:off x="10050231" y="2115241"/>
            <a:ext cx="9172763" cy="6354223"/>
          </a:xfrm>
          <a:custGeom>
            <a:avLst/>
            <a:gdLst/>
            <a:ahLst/>
            <a:cxnLst/>
            <a:rect l="l" t="t" r="r" b="b"/>
            <a:pathLst>
              <a:path w="9172763" h="6354223">
                <a:moveTo>
                  <a:pt x="0" y="6354224"/>
                </a:moveTo>
                <a:lnTo>
                  <a:pt x="9172763" y="6354224"/>
                </a:lnTo>
                <a:lnTo>
                  <a:pt x="9172763" y="0"/>
                </a:lnTo>
                <a:lnTo>
                  <a:pt x="0" y="0"/>
                </a:lnTo>
                <a:lnTo>
                  <a:pt x="0" y="63542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799605" y="719306"/>
            <a:ext cx="6940389" cy="9147998"/>
            <a:chOff x="0" y="0"/>
            <a:chExt cx="1827921" cy="24093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27922" cy="2409349"/>
            </a:xfrm>
            <a:custGeom>
              <a:avLst/>
              <a:gdLst/>
              <a:ahLst/>
              <a:cxnLst/>
              <a:rect l="l" t="t" r="r" b="b"/>
              <a:pathLst>
                <a:path w="1827922" h="2409349">
                  <a:moveTo>
                    <a:pt x="0" y="0"/>
                  </a:moveTo>
                  <a:lnTo>
                    <a:pt x="1827922" y="0"/>
                  </a:lnTo>
                  <a:lnTo>
                    <a:pt x="1827922" y="2409349"/>
                  </a:lnTo>
                  <a:lnTo>
                    <a:pt x="0" y="2409349"/>
                  </a:lnTo>
                  <a:close/>
                </a:path>
              </a:pathLst>
            </a:custGeom>
            <a:solidFill>
              <a:srgbClr val="F5904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827921" cy="2456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5400000">
            <a:off x="-685826" y="2115241"/>
            <a:ext cx="9172763" cy="6354223"/>
          </a:xfrm>
          <a:custGeom>
            <a:avLst/>
            <a:gdLst/>
            <a:ahLst/>
            <a:cxnLst/>
            <a:rect l="l" t="t" r="r" b="b"/>
            <a:pathLst>
              <a:path w="9172763" h="6354223">
                <a:moveTo>
                  <a:pt x="0" y="0"/>
                </a:moveTo>
                <a:lnTo>
                  <a:pt x="9172763" y="0"/>
                </a:lnTo>
                <a:lnTo>
                  <a:pt x="9172763" y="6354224"/>
                </a:lnTo>
                <a:lnTo>
                  <a:pt x="0" y="6354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 flipV="1">
            <a:off x="9924432" y="1966388"/>
            <a:ext cx="9172763" cy="6354223"/>
          </a:xfrm>
          <a:custGeom>
            <a:avLst/>
            <a:gdLst/>
            <a:ahLst/>
            <a:cxnLst/>
            <a:rect l="l" t="t" r="r" b="b"/>
            <a:pathLst>
              <a:path w="9172763" h="6354223">
                <a:moveTo>
                  <a:pt x="0" y="6354224"/>
                </a:moveTo>
                <a:lnTo>
                  <a:pt x="9172763" y="6354224"/>
                </a:lnTo>
                <a:lnTo>
                  <a:pt x="9172763" y="0"/>
                </a:lnTo>
                <a:lnTo>
                  <a:pt x="0" y="0"/>
                </a:lnTo>
                <a:lnTo>
                  <a:pt x="0" y="635422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673805" y="570453"/>
            <a:ext cx="6940389" cy="9147998"/>
            <a:chOff x="0" y="0"/>
            <a:chExt cx="1827921" cy="2409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7922" cy="2409349"/>
            </a:xfrm>
            <a:custGeom>
              <a:avLst/>
              <a:gdLst/>
              <a:ahLst/>
              <a:cxnLst/>
              <a:rect l="l" t="t" r="r" b="b"/>
              <a:pathLst>
                <a:path w="1827922" h="2409349">
                  <a:moveTo>
                    <a:pt x="0" y="0"/>
                  </a:moveTo>
                  <a:lnTo>
                    <a:pt x="1827922" y="0"/>
                  </a:lnTo>
                  <a:lnTo>
                    <a:pt x="1827922" y="2409349"/>
                  </a:lnTo>
                  <a:lnTo>
                    <a:pt x="0" y="2409349"/>
                  </a:lnTo>
                  <a:close/>
                </a:path>
              </a:pathLst>
            </a:custGeom>
            <a:solidFill>
              <a:srgbClr val="3D704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827921" cy="2456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-4364305" flipH="1">
            <a:off x="14445761" y="1528357"/>
            <a:ext cx="2308448" cy="2373171"/>
          </a:xfrm>
          <a:custGeom>
            <a:avLst/>
            <a:gdLst/>
            <a:ahLst/>
            <a:cxnLst/>
            <a:rect l="l" t="t" r="r" b="b"/>
            <a:pathLst>
              <a:path w="2308448" h="2373171">
                <a:moveTo>
                  <a:pt x="2308447" y="0"/>
                </a:moveTo>
                <a:lnTo>
                  <a:pt x="0" y="0"/>
                </a:lnTo>
                <a:lnTo>
                  <a:pt x="0" y="2373171"/>
                </a:lnTo>
                <a:lnTo>
                  <a:pt x="2308447" y="2373171"/>
                </a:lnTo>
                <a:lnTo>
                  <a:pt x="230844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0079172" y="1545719"/>
            <a:ext cx="6289554" cy="6289554"/>
            <a:chOff x="0" y="0"/>
            <a:chExt cx="13716000" cy="13716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7994" y="0"/>
                  </a:moveTo>
                  <a:lnTo>
                    <a:pt x="6858008" y="0"/>
                  </a:lnTo>
                  <a:cubicBezTo>
                    <a:pt x="10645573" y="1"/>
                    <a:pt x="13716000" y="3070429"/>
                    <a:pt x="13716000" y="6857994"/>
                  </a:cubicBezTo>
                  <a:lnTo>
                    <a:pt x="13716000" y="13716000"/>
                  </a:lnTo>
                  <a:lnTo>
                    <a:pt x="0" y="13716000"/>
                  </a:lnTo>
                  <a:lnTo>
                    <a:pt x="0" y="6857994"/>
                  </a:lnTo>
                  <a:cubicBezTo>
                    <a:pt x="0" y="3070428"/>
                    <a:pt x="3070428" y="0"/>
                    <a:pt x="6857994" y="0"/>
                  </a:cubicBezTo>
                  <a:close/>
                </a:path>
              </a:pathLst>
            </a:custGeom>
            <a:blipFill>
              <a:blip r:embed="rId8"/>
              <a:stretch>
                <a:fillRect l="-25046" r="-25046"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 rot="5400000">
            <a:off x="-811626" y="1966388"/>
            <a:ext cx="9172763" cy="6354223"/>
          </a:xfrm>
          <a:custGeom>
            <a:avLst/>
            <a:gdLst/>
            <a:ahLst/>
            <a:cxnLst/>
            <a:rect l="l" t="t" r="r" b="b"/>
            <a:pathLst>
              <a:path w="9172763" h="6354223">
                <a:moveTo>
                  <a:pt x="0" y="0"/>
                </a:moveTo>
                <a:lnTo>
                  <a:pt x="9172763" y="0"/>
                </a:lnTo>
                <a:lnTo>
                  <a:pt x="9172763" y="6354224"/>
                </a:lnTo>
                <a:lnTo>
                  <a:pt x="0" y="63542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246303" y="3152651"/>
            <a:ext cx="8769969" cy="4100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14545"/>
              </a:lnSpc>
              <a:defRPr sz="10389">
                <a:solidFill>
                  <a:srgbClr val="FFFFFF"/>
                </a:solidFill>
                <a:cs typeface="Opun Bold"/>
              </a:defRPr>
            </a:lvl1pPr>
          </a:lstStyle>
          <a:p>
            <a:r>
              <a:rPr lang="en-US" sz="25000" b="1"/>
              <a:t>Thank you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205628" y="6686793"/>
            <a:ext cx="493508" cy="493508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904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74430" y="8448202"/>
            <a:ext cx="15139140" cy="758398"/>
            <a:chOff x="0" y="0"/>
            <a:chExt cx="3987263" cy="19974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987263" cy="199743"/>
            </a:xfrm>
            <a:custGeom>
              <a:avLst/>
              <a:gdLst/>
              <a:ahLst/>
              <a:cxnLst/>
              <a:rect l="l" t="t" r="r" b="b"/>
              <a:pathLst>
                <a:path w="3987263" h="199743">
                  <a:moveTo>
                    <a:pt x="26081" y="0"/>
                  </a:moveTo>
                  <a:lnTo>
                    <a:pt x="3961183" y="0"/>
                  </a:lnTo>
                  <a:cubicBezTo>
                    <a:pt x="3975586" y="0"/>
                    <a:pt x="3987263" y="11677"/>
                    <a:pt x="3987263" y="26081"/>
                  </a:cubicBezTo>
                  <a:lnTo>
                    <a:pt x="3987263" y="173662"/>
                  </a:lnTo>
                  <a:cubicBezTo>
                    <a:pt x="3987263" y="180579"/>
                    <a:pt x="3984515" y="187213"/>
                    <a:pt x="3979625" y="192104"/>
                  </a:cubicBezTo>
                  <a:cubicBezTo>
                    <a:pt x="3974733" y="196995"/>
                    <a:pt x="3968100" y="199743"/>
                    <a:pt x="3961183" y="199743"/>
                  </a:cubicBezTo>
                  <a:lnTo>
                    <a:pt x="26081" y="199743"/>
                  </a:lnTo>
                  <a:cubicBezTo>
                    <a:pt x="19164" y="199743"/>
                    <a:pt x="12530" y="196995"/>
                    <a:pt x="7639" y="192104"/>
                  </a:cubicBezTo>
                  <a:cubicBezTo>
                    <a:pt x="2748" y="187213"/>
                    <a:pt x="0" y="180579"/>
                    <a:pt x="0" y="173662"/>
                  </a:cubicBezTo>
                  <a:lnTo>
                    <a:pt x="0" y="26081"/>
                  </a:lnTo>
                  <a:cubicBezTo>
                    <a:pt x="0" y="19164"/>
                    <a:pt x="2748" y="12530"/>
                    <a:pt x="7639" y="7639"/>
                  </a:cubicBezTo>
                  <a:cubicBezTo>
                    <a:pt x="12530" y="2748"/>
                    <a:pt x="19164" y="0"/>
                    <a:pt x="26081" y="0"/>
                  </a:cubicBezTo>
                  <a:close/>
                </a:path>
              </a:pathLst>
            </a:custGeom>
            <a:solidFill>
              <a:srgbClr val="FEFFE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3987263" cy="228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1013</Words>
  <Application>Microsoft Office PowerPoint</Application>
  <PresentationFormat>Custom</PresentationFormat>
  <Paragraphs>100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TAN Buster</vt:lpstr>
      <vt:lpstr>DM Serif Display</vt:lpstr>
      <vt:lpstr>Arial</vt:lpstr>
      <vt:lpstr>Garet Bold</vt:lpstr>
      <vt:lpstr>Opun</vt:lpstr>
      <vt:lpstr>Calibri</vt:lpstr>
      <vt:lpstr>Open Sauce Bold</vt:lpstr>
      <vt:lpstr>Opun Bold</vt:lpstr>
      <vt:lpstr>Garet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strategy &amp; Technology</dc:title>
  <cp:lastModifiedBy>Waraporn Lueangvilai</cp:lastModifiedBy>
  <cp:revision>3</cp:revision>
  <dcterms:created xsi:type="dcterms:W3CDTF">2006-08-16T00:00:00Z</dcterms:created>
  <dcterms:modified xsi:type="dcterms:W3CDTF">2026-09-10T02:26:22Z</dcterms:modified>
  <dc:identifier>DAGIz_fMerw</dc:identifier>
</cp:coreProperties>
</file>